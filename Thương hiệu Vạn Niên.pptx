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ahkwang Bold" charset="1" panose="00000800000000000000"/>
      <p:regular r:id="rId16"/>
    </p:embeddedFont>
    <p:embeddedFont>
      <p:font typeface="Linux Biolinum" charset="1" panose="02000503000000000000"/>
      <p:regular r:id="rId17"/>
    </p:embeddedFont>
    <p:embeddedFont>
      <p:font typeface="Fahkwang" charset="1" panose="00000500000000000000"/>
      <p:regular r:id="rId18"/>
    </p:embeddedFont>
    <p:embeddedFont>
      <p:font typeface="Muli Semi-Bold" charset="1" panose="00000700000000000000"/>
      <p:regular r:id="rId19"/>
    </p:embeddedFont>
    <p:embeddedFont>
      <p:font typeface="Muli Extra-Light" charset="1" panose="000003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87688">
            <a:off x="10282257" y="5034286"/>
            <a:ext cx="8922358" cy="9404330"/>
          </a:xfrm>
          <a:custGeom>
            <a:avLst/>
            <a:gdLst/>
            <a:ahLst/>
            <a:cxnLst/>
            <a:rect r="r" b="b" t="t" l="l"/>
            <a:pathLst>
              <a:path h="9404330" w="8922358">
                <a:moveTo>
                  <a:pt x="0" y="0"/>
                </a:moveTo>
                <a:lnTo>
                  <a:pt x="8922358" y="0"/>
                </a:lnTo>
                <a:lnTo>
                  <a:pt x="8922358" y="9404330"/>
                </a:lnTo>
                <a:lnTo>
                  <a:pt x="0" y="9404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013544">
            <a:off x="-1834628" y="-2396987"/>
            <a:ext cx="8825308" cy="8229600"/>
          </a:xfrm>
          <a:custGeom>
            <a:avLst/>
            <a:gdLst/>
            <a:ahLst/>
            <a:cxnLst/>
            <a:rect r="r" b="b" t="t" l="l"/>
            <a:pathLst>
              <a:path h="8229600" w="8825308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379722" y="5300287"/>
          <a:ext cx="5684934" cy="3205531"/>
        </p:xfrm>
        <a:graphic>
          <a:graphicData uri="http://schemas.openxmlformats.org/drawingml/2006/table">
            <a:tbl>
              <a:tblPr/>
              <a:tblGrid>
                <a:gridCol w="2800680"/>
                <a:gridCol w="2884255"/>
              </a:tblGrid>
              <a:tr h="8000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Giảng viên hướng dẫn: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TS. Đỗ Thị Minh Nguyệt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2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Sinh viên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Trần Văn Thái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0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Mã sinh viên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2019604310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0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Khóa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Fahkwang Bold"/>
                          <a:ea typeface="Fahkwang Bold"/>
                          <a:cs typeface="Fahkwang Bold"/>
                          <a:sym typeface="Fahkwang Bold"/>
                        </a:rPr>
                        <a:t>K14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4924874" y="2759566"/>
            <a:ext cx="8594630" cy="788756"/>
            <a:chOff x="0" y="0"/>
            <a:chExt cx="11459507" cy="105167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86992"/>
              <a:ext cx="11459507" cy="702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2"/>
                </a:lnSpc>
              </a:pPr>
              <a:r>
                <a:rPr lang="en-US" sz="3494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BÁO CÁO ĐỒ ÁN TỐT NGHIỆP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80130"/>
              <a:ext cx="11459507" cy="576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9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80327" y="479563"/>
            <a:ext cx="8083724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spc="77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BỘ CÔNG THƯƠNG</a:t>
            </a:r>
          </a:p>
          <a:p>
            <a:pPr algn="ctr">
              <a:lnSpc>
                <a:spcPts val="3639"/>
              </a:lnSpc>
            </a:pPr>
            <a:r>
              <a:rPr lang="en-US" sz="2599" spc="77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TRƯỜNG ĐẠI HỌC CÔNG NGHIỆP HÀ NỘI</a:t>
            </a:r>
          </a:p>
          <a:p>
            <a:pPr algn="ctr">
              <a:lnSpc>
                <a:spcPts val="266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088292" y="3529271"/>
            <a:ext cx="8267794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Fahkwang Bold"/>
                <a:ea typeface="Fahkwang Bold"/>
                <a:cs typeface="Fahkwang Bold"/>
                <a:sym typeface="Fahkwang Bold"/>
              </a:rPr>
              <a:t>XÂY DỰNG  WEBSITE BÁN HÀNG BÁN ĐIỆN THOẠI</a:t>
            </a:r>
          </a:p>
          <a:p>
            <a:pPr algn="l">
              <a:lnSpc>
                <a:spcPts val="29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4670" y="1105856"/>
            <a:ext cx="8402807" cy="2062806"/>
            <a:chOff x="0" y="0"/>
            <a:chExt cx="11203743" cy="275040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11203743" cy="196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19"/>
                </a:lnSpc>
              </a:pPr>
              <a:r>
                <a:rPr lang="en-US" sz="9599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NỘI DUNG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11836"/>
              <a:ext cx="11203743" cy="543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00573" y="5140337"/>
            <a:ext cx="8358727" cy="533375"/>
            <a:chOff x="0" y="0"/>
            <a:chExt cx="11144969" cy="71116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03453"/>
              <a:ext cx="681633" cy="1499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9"/>
                </a:lnSpc>
              </a:pPr>
            </a:p>
            <a:p>
              <a:pPr algn="l">
                <a:lnSpc>
                  <a:spcPts val="2989"/>
                </a:lnSpc>
              </a:pPr>
              <a:r>
                <a:rPr lang="en-US" b="true" sz="229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01</a:t>
              </a:r>
            </a:p>
            <a:p>
              <a:pPr algn="l">
                <a:lnSpc>
                  <a:spcPts val="298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462829" y="48385"/>
              <a:ext cx="9682140" cy="581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Tổng quan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00573" y="6342532"/>
            <a:ext cx="8358727" cy="863897"/>
            <a:chOff x="0" y="0"/>
            <a:chExt cx="11144969" cy="115186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64831"/>
              <a:ext cx="800199" cy="14660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9"/>
                </a:lnSpc>
              </a:pPr>
            </a:p>
            <a:p>
              <a:pPr algn="l">
                <a:lnSpc>
                  <a:spcPts val="2989"/>
                </a:lnSpc>
              </a:pPr>
              <a:r>
                <a:rPr lang="en-US" b="true" sz="229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02</a:t>
              </a:r>
            </a:p>
            <a:p>
              <a:pPr algn="l">
                <a:lnSpc>
                  <a:spcPts val="298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462829" y="275788"/>
              <a:ext cx="9682140" cy="581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Phân tích thiết kế hệ thống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00573" y="8040093"/>
            <a:ext cx="8358727" cy="888662"/>
            <a:chOff x="0" y="0"/>
            <a:chExt cx="11144969" cy="118488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71887"/>
              <a:ext cx="797223" cy="1499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9"/>
                </a:lnSpc>
              </a:pPr>
            </a:p>
            <a:p>
              <a:pPr algn="l">
                <a:lnSpc>
                  <a:spcPts val="2989"/>
                </a:lnSpc>
              </a:pPr>
              <a:r>
                <a:rPr lang="en-US" b="true" sz="2299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03</a:t>
              </a:r>
            </a:p>
            <a:p>
              <a:pPr algn="l">
                <a:lnSpc>
                  <a:spcPts val="2989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62829" y="292298"/>
              <a:ext cx="9682140" cy="581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Cài đặt và triển khai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0">
            <a:off x="8900573" y="5951076"/>
            <a:ext cx="835872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0">
            <a:off x="8900573" y="7641679"/>
            <a:ext cx="835872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36792" y="3248361"/>
            <a:ext cx="8825308" cy="8229600"/>
          </a:xfrm>
          <a:custGeom>
            <a:avLst/>
            <a:gdLst/>
            <a:ahLst/>
            <a:cxnLst/>
            <a:rect r="r" b="b" t="t" l="l"/>
            <a:pathLst>
              <a:path h="8229600" w="8825308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03874">
            <a:off x="-1262775" y="-2893697"/>
            <a:ext cx="10898092" cy="9522208"/>
          </a:xfrm>
          <a:custGeom>
            <a:avLst/>
            <a:gdLst/>
            <a:ahLst/>
            <a:cxnLst/>
            <a:rect r="r" b="b" t="t" l="l"/>
            <a:pathLst>
              <a:path h="9522208" w="10898092">
                <a:moveTo>
                  <a:pt x="0" y="0"/>
                </a:moveTo>
                <a:lnTo>
                  <a:pt x="10898093" y="0"/>
                </a:lnTo>
                <a:lnTo>
                  <a:pt x="10898093" y="9522208"/>
                </a:lnTo>
                <a:lnTo>
                  <a:pt x="0" y="9522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81801" y="4540590"/>
            <a:ext cx="6741277" cy="9125247"/>
          </a:xfrm>
          <a:custGeom>
            <a:avLst/>
            <a:gdLst/>
            <a:ahLst/>
            <a:cxnLst/>
            <a:rect r="r" b="b" t="t" l="l"/>
            <a:pathLst>
              <a:path h="9125247" w="6741277">
                <a:moveTo>
                  <a:pt x="0" y="0"/>
                </a:moveTo>
                <a:lnTo>
                  <a:pt x="6741277" y="0"/>
                </a:lnTo>
                <a:lnTo>
                  <a:pt x="6741277" y="9125247"/>
                </a:lnTo>
                <a:lnTo>
                  <a:pt x="0" y="91252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45320" y="4072124"/>
            <a:ext cx="6213980" cy="2142752"/>
            <a:chOff x="0" y="0"/>
            <a:chExt cx="8285306" cy="285700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90"/>
              <a:ext cx="8285306" cy="196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19"/>
                </a:lnSpc>
              </a:pPr>
              <a:r>
                <a:rPr lang="en-US" sz="9599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CHƯƠNG 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97160"/>
              <a:ext cx="8285306" cy="407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sz="1999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Tổng quan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95408" y="1028700"/>
            <a:ext cx="6663892" cy="1489000"/>
            <a:chOff x="0" y="0"/>
            <a:chExt cx="8885189" cy="198533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885189" cy="485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7"/>
                </a:lnSpc>
              </a:pPr>
              <a:r>
                <a:rPr lang="en-US" b="true" sz="2275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Tổng quan về ngôn ngữ lập trình C#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65980"/>
              <a:ext cx="8885189" cy="1019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Ghi âm trước bản thuyết trình Canva của bạn để trình bày mọi lúc, mọi nơi.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595408" y="4264358"/>
            <a:ext cx="6663892" cy="1772366"/>
            <a:chOff x="0" y="0"/>
            <a:chExt cx="8885189" cy="236315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8885189" cy="581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Tổng quan về .Net Core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00470"/>
              <a:ext cx="8885189" cy="1563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Thêm âm thanh hoặc thu hình bản thân đang trình bày bản thuyết trình, rồi chia sẻ video của bạn với mọi người.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95408" y="7397672"/>
            <a:ext cx="6663892" cy="1418941"/>
            <a:chOff x="0" y="0"/>
            <a:chExt cx="8885189" cy="189192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8885189" cy="581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true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1.1.1</a:t>
              </a:r>
              <a:r>
                <a:rPr lang="en-US" b="true" sz="2800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 Tổng quan về VueJS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57328"/>
              <a:ext cx="8885189" cy="1035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Đó là cách tuyệt vời để thu hút khán giả ngoài sự kiện diễn ra một lần.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019175"/>
            <a:ext cx="6812293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375">
                <a:solidFill>
                  <a:srgbClr val="FFFFFF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TỔNG QUAN VỀ CÔNG NGHỆ SỬ DỤNG</a:t>
            </a:r>
          </a:p>
        </p:txBody>
      </p:sp>
      <p:sp>
        <p:nvSpPr>
          <p:cNvPr name="AutoShape 12" id="12"/>
          <p:cNvSpPr/>
          <p:nvPr/>
        </p:nvSpPr>
        <p:spPr>
          <a:xfrm rot="-10800000">
            <a:off x="9144000" y="6719245"/>
            <a:ext cx="811530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-10800000">
            <a:off x="9144000" y="3591760"/>
            <a:ext cx="811530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9031628" y="1028700"/>
            <a:ext cx="979590" cy="632281"/>
          </a:xfrm>
          <a:custGeom>
            <a:avLst/>
            <a:gdLst/>
            <a:ahLst/>
            <a:cxnLst/>
            <a:rect r="r" b="b" t="t" l="l"/>
            <a:pathLst>
              <a:path h="632281" w="979590">
                <a:moveTo>
                  <a:pt x="0" y="0"/>
                </a:moveTo>
                <a:lnTo>
                  <a:pt x="979590" y="0"/>
                </a:lnTo>
                <a:lnTo>
                  <a:pt x="979590" y="632281"/>
                </a:lnTo>
                <a:lnTo>
                  <a:pt x="0" y="632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25437" y="4353217"/>
            <a:ext cx="504344" cy="790283"/>
          </a:xfrm>
          <a:custGeom>
            <a:avLst/>
            <a:gdLst/>
            <a:ahLst/>
            <a:cxnLst/>
            <a:rect r="r" b="b" t="t" l="l"/>
            <a:pathLst>
              <a:path h="790283" w="504344">
                <a:moveTo>
                  <a:pt x="0" y="0"/>
                </a:moveTo>
                <a:lnTo>
                  <a:pt x="504344" y="0"/>
                </a:lnTo>
                <a:lnTo>
                  <a:pt x="504344" y="790283"/>
                </a:lnTo>
                <a:lnTo>
                  <a:pt x="0" y="790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7516189"/>
            <a:ext cx="867218" cy="632281"/>
          </a:xfrm>
          <a:custGeom>
            <a:avLst/>
            <a:gdLst/>
            <a:ahLst/>
            <a:cxnLst/>
            <a:rect r="r" b="b" t="t" l="l"/>
            <a:pathLst>
              <a:path h="632281" w="867218">
                <a:moveTo>
                  <a:pt x="0" y="0"/>
                </a:moveTo>
                <a:lnTo>
                  <a:pt x="867218" y="0"/>
                </a:lnTo>
                <a:lnTo>
                  <a:pt x="867218" y="632281"/>
                </a:lnTo>
                <a:lnTo>
                  <a:pt x="0" y="632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43691">
            <a:off x="12650583" y="5606367"/>
            <a:ext cx="6964299" cy="8229600"/>
          </a:xfrm>
          <a:custGeom>
            <a:avLst/>
            <a:gdLst/>
            <a:ahLst/>
            <a:cxnLst/>
            <a:rect r="r" b="b" t="t" l="l"/>
            <a:pathLst>
              <a:path h="8229600" w="6964299">
                <a:moveTo>
                  <a:pt x="0" y="0"/>
                </a:moveTo>
                <a:lnTo>
                  <a:pt x="6964299" y="0"/>
                </a:lnTo>
                <a:lnTo>
                  <a:pt x="69642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01857" y="-2160536"/>
            <a:ext cx="6151626" cy="8229600"/>
          </a:xfrm>
          <a:custGeom>
            <a:avLst/>
            <a:gdLst/>
            <a:ahLst/>
            <a:cxnLst/>
            <a:rect r="r" b="b" t="t" l="l"/>
            <a:pathLst>
              <a:path h="8229600" w="6151626">
                <a:moveTo>
                  <a:pt x="0" y="0"/>
                </a:moveTo>
                <a:lnTo>
                  <a:pt x="6151626" y="0"/>
                </a:lnTo>
                <a:lnTo>
                  <a:pt x="615162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20708" y="3043392"/>
            <a:ext cx="7179219" cy="2779169"/>
            <a:chOff x="0" y="0"/>
            <a:chExt cx="9572293" cy="370555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42495" y="251157"/>
              <a:ext cx="7487302" cy="1601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en-US" sz="3700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CÔNG CỤ PHÁT TRIỂN PHẦN MỀM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733387"/>
              <a:ext cx="9572293" cy="766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2"/>
                </a:lnSpc>
              </a:pPr>
              <a:r>
                <a:rPr lang="en-US" sz="1825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Trình bày như một người chuyên nghiệp với Bản thuyết trình Canva bằng cách sử dụng màn hình của người trình bày.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853231" y="3043392"/>
            <a:ext cx="6473013" cy="3215166"/>
            <a:chOff x="0" y="0"/>
            <a:chExt cx="8630684" cy="428688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545693" y="227027"/>
              <a:ext cx="7539299" cy="1601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09"/>
                </a:lnSpc>
              </a:pPr>
              <a:r>
                <a:rPr lang="en-US" sz="3699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CÔNG CỤ HỖ TRỢ QUÁ TRÌNH PHÁT TRIỂN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621197"/>
              <a:ext cx="8630684" cy="1520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75"/>
                </a:lnSpc>
              </a:pPr>
              <a:r>
                <a:rPr lang="en-US" sz="175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Tự tin với màn hình riêng để đọc lời thoại và ghi chú, xem thời gian và biết nội dung của các trang chiếu tiếp theo.</a:t>
              </a:r>
            </a:p>
            <a:p>
              <a:pPr algn="ctr">
                <a:lnSpc>
                  <a:spcPts val="2275"/>
                </a:lnSpc>
              </a:pPr>
            </a:p>
            <a:p>
              <a:pPr algn="ctr">
                <a:lnSpc>
                  <a:spcPts val="2275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H="true">
            <a:off x="9144000" y="2660120"/>
            <a:ext cx="17662" cy="6105116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579807" y="828084"/>
            <a:ext cx="10108611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375">
                <a:solidFill>
                  <a:srgbClr val="FFFFFF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TỔNG QUAN VỀ CÔNG NGHỆ SỬ DỤNG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55028" y="4375676"/>
            <a:ext cx="8825308" cy="8229600"/>
          </a:xfrm>
          <a:custGeom>
            <a:avLst/>
            <a:gdLst/>
            <a:ahLst/>
            <a:cxnLst/>
            <a:rect r="r" b="b" t="t" l="l"/>
            <a:pathLst>
              <a:path h="8229600" w="8825308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08142" y="5296576"/>
            <a:ext cx="10535909" cy="11105043"/>
          </a:xfrm>
          <a:custGeom>
            <a:avLst/>
            <a:gdLst/>
            <a:ahLst/>
            <a:cxnLst/>
            <a:rect r="r" b="b" t="t" l="l"/>
            <a:pathLst>
              <a:path h="11105043" w="10535909">
                <a:moveTo>
                  <a:pt x="0" y="0"/>
                </a:moveTo>
                <a:lnTo>
                  <a:pt x="10535909" y="0"/>
                </a:lnTo>
                <a:lnTo>
                  <a:pt x="10535909" y="11105042"/>
                </a:lnTo>
                <a:lnTo>
                  <a:pt x="0" y="11105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303164">
            <a:off x="-843112" y="4566854"/>
            <a:ext cx="8825308" cy="8229600"/>
          </a:xfrm>
          <a:custGeom>
            <a:avLst/>
            <a:gdLst/>
            <a:ahLst/>
            <a:cxnLst/>
            <a:rect r="r" b="b" t="t" l="l"/>
            <a:pathLst>
              <a:path h="8229600" w="8825308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440934" y="2539936"/>
            <a:ext cx="13406133" cy="2142752"/>
            <a:chOff x="0" y="0"/>
            <a:chExt cx="17874844" cy="285700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17874844" cy="196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19"/>
                </a:lnSpc>
              </a:pPr>
              <a:r>
                <a:rPr lang="en-US" sz="9599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CHƯƠNG 2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25727"/>
              <a:ext cx="17874844" cy="731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sz="3499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Phân tích thiết kế hệ thống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95408" y="1028700"/>
            <a:ext cx="6663892" cy="1489000"/>
            <a:chOff x="0" y="0"/>
            <a:chExt cx="8885189" cy="198533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885189" cy="485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7"/>
                </a:lnSpc>
              </a:pPr>
              <a:r>
                <a:rPr lang="en-US" sz="2275" b="true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Giới thiệu về cửa hàng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65980"/>
              <a:ext cx="8885189" cy="1019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Ghi âm trước bản thuyết trình Canva của bạn để trình bày mọi lúc, mọi nơi.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595408" y="4264358"/>
            <a:ext cx="6663892" cy="1772366"/>
            <a:chOff x="0" y="0"/>
            <a:chExt cx="8885189" cy="236315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8885189" cy="581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Các yêu cầu chức năng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00470"/>
              <a:ext cx="8885189" cy="1563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Thêm âm thanh hoặc thu hình bản thân đang trình bày bản thuyết trình, rồi chia sẻ video của bạn với mọi người.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95408" y="7397672"/>
            <a:ext cx="6663892" cy="1418941"/>
            <a:chOff x="0" y="0"/>
            <a:chExt cx="8885189" cy="189192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8885189" cy="581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FFFFFF"/>
                  </a:solidFill>
                  <a:latin typeface="Fahkwang Bold"/>
                  <a:ea typeface="Fahkwang Bold"/>
                  <a:cs typeface="Fahkwang Bold"/>
                  <a:sym typeface="Fahkwang Bold"/>
                </a:rPr>
                <a:t>Các yêu cầu phi chức năng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57328"/>
              <a:ext cx="8885189" cy="1035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Đó là cách tuyệt vời để thu hút khán giả ngoài sự kiện diễn ra một lần.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019175"/>
            <a:ext cx="68122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375">
                <a:solidFill>
                  <a:srgbClr val="FFFFFF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KHẢO SÁT HỆ THỐNG</a:t>
            </a:r>
          </a:p>
        </p:txBody>
      </p:sp>
      <p:sp>
        <p:nvSpPr>
          <p:cNvPr name="AutoShape 12" id="12"/>
          <p:cNvSpPr/>
          <p:nvPr/>
        </p:nvSpPr>
        <p:spPr>
          <a:xfrm rot="-10800000">
            <a:off x="9144000" y="6719245"/>
            <a:ext cx="811530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-10800000">
            <a:off x="9144000" y="3591760"/>
            <a:ext cx="811530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9031628" y="1028700"/>
            <a:ext cx="979590" cy="632281"/>
          </a:xfrm>
          <a:custGeom>
            <a:avLst/>
            <a:gdLst/>
            <a:ahLst/>
            <a:cxnLst/>
            <a:rect r="r" b="b" t="t" l="l"/>
            <a:pathLst>
              <a:path h="632281" w="979590">
                <a:moveTo>
                  <a:pt x="0" y="0"/>
                </a:moveTo>
                <a:lnTo>
                  <a:pt x="979590" y="0"/>
                </a:lnTo>
                <a:lnTo>
                  <a:pt x="979590" y="632281"/>
                </a:lnTo>
                <a:lnTo>
                  <a:pt x="0" y="632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25437" y="4353217"/>
            <a:ext cx="504344" cy="790283"/>
          </a:xfrm>
          <a:custGeom>
            <a:avLst/>
            <a:gdLst/>
            <a:ahLst/>
            <a:cxnLst/>
            <a:rect r="r" b="b" t="t" l="l"/>
            <a:pathLst>
              <a:path h="790283" w="504344">
                <a:moveTo>
                  <a:pt x="0" y="0"/>
                </a:moveTo>
                <a:lnTo>
                  <a:pt x="504344" y="0"/>
                </a:lnTo>
                <a:lnTo>
                  <a:pt x="504344" y="790283"/>
                </a:lnTo>
                <a:lnTo>
                  <a:pt x="0" y="790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7516189"/>
            <a:ext cx="867218" cy="632281"/>
          </a:xfrm>
          <a:custGeom>
            <a:avLst/>
            <a:gdLst/>
            <a:ahLst/>
            <a:cxnLst/>
            <a:rect r="r" b="b" t="t" l="l"/>
            <a:pathLst>
              <a:path h="632281" w="867218">
                <a:moveTo>
                  <a:pt x="0" y="0"/>
                </a:moveTo>
                <a:lnTo>
                  <a:pt x="867218" y="0"/>
                </a:lnTo>
                <a:lnTo>
                  <a:pt x="867218" y="632281"/>
                </a:lnTo>
                <a:lnTo>
                  <a:pt x="0" y="632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3D76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19603" y="4103590"/>
            <a:ext cx="601353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Phân tích, mô tả chức năng của website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554885"/>
            <a:ext cx="2781610" cy="1412336"/>
            <a:chOff x="0" y="0"/>
            <a:chExt cx="3708813" cy="188311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3708813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</a:p>
          </p:txBody>
        </p:sp>
        <p:sp>
          <p:nvSpPr>
            <p:cNvPr name="AutoShape 5" id="5"/>
            <p:cNvSpPr/>
            <p:nvPr/>
          </p:nvSpPr>
          <p:spPr>
            <a:xfrm rot="0">
              <a:off x="0" y="1037254"/>
              <a:ext cx="3708813" cy="845861"/>
            </a:xfrm>
            <a:prstGeom prst="rect">
              <a:avLst/>
            </a:prstGeom>
            <a:solidFill>
              <a:srgbClr val="10B5BF"/>
            </a:solid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77923" y="1184806"/>
              <a:ext cx="3152967" cy="459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075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Quản lý nhân viên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763521"/>
            <a:ext cx="2813458" cy="2018192"/>
            <a:chOff x="0" y="0"/>
            <a:chExt cx="3751278" cy="269092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3751278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</a:p>
          </p:txBody>
        </p:sp>
        <p:sp>
          <p:nvSpPr>
            <p:cNvPr name="AutoShape 9" id="9"/>
            <p:cNvSpPr/>
            <p:nvPr/>
          </p:nvSpPr>
          <p:spPr>
            <a:xfrm rot="0">
              <a:off x="0" y="1037254"/>
              <a:ext cx="3751278" cy="845861"/>
            </a:xfrm>
            <a:prstGeom prst="rect">
              <a:avLst/>
            </a:prstGeom>
            <a:solidFill>
              <a:srgbClr val="10B5BF"/>
            </a:solid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81105" y="1184806"/>
              <a:ext cx="3189068" cy="459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075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Quản lý thương hiệu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72669"/>
              <a:ext cx="3751278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99937" y="4792096"/>
            <a:ext cx="2542746" cy="1961042"/>
            <a:chOff x="0" y="0"/>
            <a:chExt cx="3390328" cy="261472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3390328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</a:p>
          </p:txBody>
        </p:sp>
        <p:sp>
          <p:nvSpPr>
            <p:cNvPr name="AutoShape 14" id="14"/>
            <p:cNvSpPr/>
            <p:nvPr/>
          </p:nvSpPr>
          <p:spPr>
            <a:xfrm rot="0">
              <a:off x="0" y="1037254"/>
              <a:ext cx="3390328" cy="845861"/>
            </a:xfrm>
            <a:prstGeom prst="rect">
              <a:avLst/>
            </a:prstGeom>
            <a:solidFill>
              <a:srgbClr val="10B5BF"/>
            </a:solid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54057" y="1184806"/>
              <a:ext cx="2882214" cy="459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075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Quản lý đơn hàng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282194"/>
              <a:ext cx="3390328" cy="3325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3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199937" y="554885"/>
            <a:ext cx="2542746" cy="2010572"/>
            <a:chOff x="0" y="0"/>
            <a:chExt cx="3390328" cy="268076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0"/>
              <a:ext cx="3390328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</a:p>
          </p:txBody>
        </p:sp>
        <p:sp>
          <p:nvSpPr>
            <p:cNvPr name="AutoShape 19" id="19"/>
            <p:cNvSpPr/>
            <p:nvPr/>
          </p:nvSpPr>
          <p:spPr>
            <a:xfrm rot="0">
              <a:off x="0" y="1037254"/>
              <a:ext cx="3390328" cy="845861"/>
            </a:xfrm>
            <a:prstGeom prst="rect">
              <a:avLst/>
            </a:prstGeom>
            <a:solidFill>
              <a:srgbClr val="10B5BF"/>
            </a:solid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54057" y="1184806"/>
              <a:ext cx="2882214" cy="459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075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Quản lý kho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2272669"/>
              <a:ext cx="3390328" cy="408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5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199937" y="6781713"/>
            <a:ext cx="2542746" cy="2018192"/>
            <a:chOff x="0" y="0"/>
            <a:chExt cx="3390328" cy="2690923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0"/>
              <a:ext cx="3390328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</a:p>
          </p:txBody>
        </p:sp>
        <p:sp>
          <p:nvSpPr>
            <p:cNvPr name="AutoShape 24" id="24"/>
            <p:cNvSpPr/>
            <p:nvPr/>
          </p:nvSpPr>
          <p:spPr>
            <a:xfrm rot="0">
              <a:off x="0" y="1037254"/>
              <a:ext cx="3390328" cy="845861"/>
            </a:xfrm>
            <a:prstGeom prst="rect">
              <a:avLst/>
            </a:prstGeom>
            <a:solidFill>
              <a:srgbClr val="10B5BF"/>
            </a:solid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54057" y="1184806"/>
              <a:ext cx="2882214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</a:pPr>
              <a:r>
                <a:rPr lang="en-US" sz="2300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Sự kiện giảm giá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272669"/>
              <a:ext cx="3390328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6852" y="2565458"/>
            <a:ext cx="2813458" cy="1961042"/>
            <a:chOff x="0" y="0"/>
            <a:chExt cx="3751278" cy="261472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0"/>
              <a:ext cx="3751278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</a:p>
          </p:txBody>
        </p:sp>
        <p:sp>
          <p:nvSpPr>
            <p:cNvPr name="AutoShape 29" id="29"/>
            <p:cNvSpPr/>
            <p:nvPr/>
          </p:nvSpPr>
          <p:spPr>
            <a:xfrm rot="0">
              <a:off x="0" y="1037254"/>
              <a:ext cx="3751278" cy="845861"/>
            </a:xfrm>
            <a:prstGeom prst="rect">
              <a:avLst/>
            </a:prstGeom>
            <a:solidFill>
              <a:srgbClr val="10B5BF"/>
            </a:solid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81105" y="1184806"/>
              <a:ext cx="3189068" cy="459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075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Quản lý sản phẩm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2282194"/>
              <a:ext cx="3751278" cy="3325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3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6852" y="7019838"/>
            <a:ext cx="2813458" cy="2018192"/>
            <a:chOff x="0" y="0"/>
            <a:chExt cx="3751278" cy="2690923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0"/>
              <a:ext cx="3751278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</a:p>
          </p:txBody>
        </p:sp>
        <p:sp>
          <p:nvSpPr>
            <p:cNvPr name="AutoShape 34" id="34"/>
            <p:cNvSpPr/>
            <p:nvPr/>
          </p:nvSpPr>
          <p:spPr>
            <a:xfrm rot="0">
              <a:off x="0" y="1037254"/>
              <a:ext cx="3751278" cy="845861"/>
            </a:xfrm>
            <a:prstGeom prst="rect">
              <a:avLst/>
            </a:prstGeom>
            <a:solidFill>
              <a:srgbClr val="10B5BF"/>
            </a:solid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281105" y="1184806"/>
              <a:ext cx="3189068" cy="459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075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Quản lý xuất xứ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2272669"/>
              <a:ext cx="3751278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199937" y="2536883"/>
            <a:ext cx="2542746" cy="2018192"/>
            <a:chOff x="0" y="0"/>
            <a:chExt cx="3390328" cy="2690923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0"/>
              <a:ext cx="3390328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</a:p>
          </p:txBody>
        </p:sp>
        <p:sp>
          <p:nvSpPr>
            <p:cNvPr name="AutoShape 39" id="39"/>
            <p:cNvSpPr/>
            <p:nvPr/>
          </p:nvSpPr>
          <p:spPr>
            <a:xfrm rot="0">
              <a:off x="0" y="1037254"/>
              <a:ext cx="3390328" cy="845861"/>
            </a:xfrm>
            <a:prstGeom prst="rect">
              <a:avLst/>
            </a:prstGeom>
            <a:solidFill>
              <a:srgbClr val="10B5BF"/>
            </a:solid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254057" y="1184806"/>
              <a:ext cx="2882214" cy="459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075">
                  <a:solidFill>
                    <a:srgbClr val="FFFFFF"/>
                  </a:solidFill>
                  <a:latin typeface="Muli Extra-Light"/>
                  <a:ea typeface="Muli Extra-Light"/>
                  <a:cs typeface="Muli Extra-Light"/>
                  <a:sym typeface="Muli Extra-Light"/>
                </a:rPr>
                <a:t>Nhập kho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2272669"/>
              <a:ext cx="3390328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4718" y="6287966"/>
            <a:ext cx="244346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Lãnh đạo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vượt qua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khủng hoảng không chỉ là quản lý những sự kiệ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bất thường.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19592" y="6287304"/>
            <a:ext cx="2443468" cy="196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Giao tiếp với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tất cả những bên liên quan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là điều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quan trọng.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79164" y="6286643"/>
            <a:ext cx="2443468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Lên kế hoạch cho những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tình huống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khác nhau.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62279" y="6286643"/>
            <a:ext cx="244346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Hãy chủ động thay vì đối phó.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98393" y="6287966"/>
            <a:ext cx="2443468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Hãy nhìn cuộc khủng hoảng như là một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cơ hội để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học hỏi,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phát triển và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đổi mới.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09033" y="1162783"/>
            <a:ext cx="1114563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Linux Biolinum"/>
                <a:ea typeface="Linux Biolinum"/>
                <a:cs typeface="Linux Biolinum"/>
                <a:sym typeface="Linux Biolinum"/>
              </a:rPr>
              <a:t>PHÂN TÍCH, MÔ TẢ CHỨC NĂNG CỦA WEBSITE</a:t>
            </a:r>
          </a:p>
        </p:txBody>
      </p:sp>
      <p:sp>
        <p:nvSpPr>
          <p:cNvPr name="AutoShape 8" id="8"/>
          <p:cNvSpPr/>
          <p:nvPr/>
        </p:nvSpPr>
        <p:spPr>
          <a:xfrm>
            <a:off x="3513796" y="2304372"/>
            <a:ext cx="0" cy="2987764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442952" y="2262232"/>
            <a:ext cx="0" cy="2987764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244097" y="2262232"/>
            <a:ext cx="0" cy="2987764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4555014" y="2342981"/>
            <a:ext cx="0" cy="2987764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400000">
            <a:off x="13160786" y="6739115"/>
            <a:ext cx="298776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8119592" y="5330745"/>
            <a:ext cx="884919" cy="336269"/>
          </a:xfrm>
          <a:custGeom>
            <a:avLst/>
            <a:gdLst/>
            <a:ahLst/>
            <a:cxnLst/>
            <a:rect r="r" b="b" t="t" l="l"/>
            <a:pathLst>
              <a:path h="336269" w="884919">
                <a:moveTo>
                  <a:pt x="0" y="0"/>
                </a:moveTo>
                <a:lnTo>
                  <a:pt x="884919" y="0"/>
                </a:lnTo>
                <a:lnTo>
                  <a:pt x="884919" y="336269"/>
                </a:lnTo>
                <a:lnTo>
                  <a:pt x="0" y="336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898393" y="5249996"/>
            <a:ext cx="661436" cy="661436"/>
          </a:xfrm>
          <a:custGeom>
            <a:avLst/>
            <a:gdLst/>
            <a:ahLst/>
            <a:cxnLst/>
            <a:rect r="r" b="b" t="t" l="l"/>
            <a:pathLst>
              <a:path h="661436" w="661436">
                <a:moveTo>
                  <a:pt x="0" y="0"/>
                </a:moveTo>
                <a:lnTo>
                  <a:pt x="661437" y="0"/>
                </a:lnTo>
                <a:lnTo>
                  <a:pt x="661437" y="661436"/>
                </a:lnTo>
                <a:lnTo>
                  <a:pt x="0" y="661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678158" y="5309024"/>
            <a:ext cx="884919" cy="379711"/>
          </a:xfrm>
          <a:custGeom>
            <a:avLst/>
            <a:gdLst/>
            <a:ahLst/>
            <a:cxnLst/>
            <a:rect r="r" b="b" t="t" l="l"/>
            <a:pathLst>
              <a:path h="379711" w="884919">
                <a:moveTo>
                  <a:pt x="0" y="0"/>
                </a:moveTo>
                <a:lnTo>
                  <a:pt x="884920" y="0"/>
                </a:lnTo>
                <a:lnTo>
                  <a:pt x="884920" y="379711"/>
                </a:lnTo>
                <a:lnTo>
                  <a:pt x="0" y="3797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679164" y="5249996"/>
            <a:ext cx="771188" cy="497767"/>
          </a:xfrm>
          <a:custGeom>
            <a:avLst/>
            <a:gdLst/>
            <a:ahLst/>
            <a:cxnLst/>
            <a:rect r="r" b="b" t="t" l="l"/>
            <a:pathLst>
              <a:path h="497767" w="771188">
                <a:moveTo>
                  <a:pt x="0" y="0"/>
                </a:moveTo>
                <a:lnTo>
                  <a:pt x="771188" y="0"/>
                </a:lnTo>
                <a:lnTo>
                  <a:pt x="771188" y="497767"/>
                </a:lnTo>
                <a:lnTo>
                  <a:pt x="0" y="497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04718" y="5249996"/>
            <a:ext cx="807587" cy="497767"/>
          </a:xfrm>
          <a:custGeom>
            <a:avLst/>
            <a:gdLst/>
            <a:ahLst/>
            <a:cxnLst/>
            <a:rect r="r" b="b" t="t" l="l"/>
            <a:pathLst>
              <a:path h="497767" w="807587">
                <a:moveTo>
                  <a:pt x="0" y="0"/>
                </a:moveTo>
                <a:lnTo>
                  <a:pt x="807587" y="0"/>
                </a:lnTo>
                <a:lnTo>
                  <a:pt x="807587" y="497767"/>
                </a:lnTo>
                <a:lnTo>
                  <a:pt x="0" y="4977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65565" y="2285322"/>
            <a:ext cx="2443468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Đăng nhập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92578" y="2285322"/>
            <a:ext cx="2443468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Quản lý sản phẩm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19592" y="2285322"/>
            <a:ext cx="2443468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Quản lý thương hiệu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78158" y="2300562"/>
            <a:ext cx="2443468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Quản lý xuất xứ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98393" y="2270082"/>
            <a:ext cx="2443468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Quản lý đơn hàng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36792" y="3248361"/>
            <a:ext cx="8825308" cy="8229600"/>
          </a:xfrm>
          <a:custGeom>
            <a:avLst/>
            <a:gdLst/>
            <a:ahLst/>
            <a:cxnLst/>
            <a:rect r="r" b="b" t="t" l="l"/>
            <a:pathLst>
              <a:path h="8229600" w="8825308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03874">
            <a:off x="-1262775" y="-2893697"/>
            <a:ext cx="10898092" cy="9522208"/>
          </a:xfrm>
          <a:custGeom>
            <a:avLst/>
            <a:gdLst/>
            <a:ahLst/>
            <a:cxnLst/>
            <a:rect r="r" b="b" t="t" l="l"/>
            <a:pathLst>
              <a:path h="9522208" w="10898092">
                <a:moveTo>
                  <a:pt x="0" y="0"/>
                </a:moveTo>
                <a:lnTo>
                  <a:pt x="10898093" y="0"/>
                </a:lnTo>
                <a:lnTo>
                  <a:pt x="10898093" y="9522208"/>
                </a:lnTo>
                <a:lnTo>
                  <a:pt x="0" y="9522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81801" y="4540590"/>
            <a:ext cx="6741277" cy="9125247"/>
          </a:xfrm>
          <a:custGeom>
            <a:avLst/>
            <a:gdLst/>
            <a:ahLst/>
            <a:cxnLst/>
            <a:rect r="r" b="b" t="t" l="l"/>
            <a:pathLst>
              <a:path h="9125247" w="6741277">
                <a:moveTo>
                  <a:pt x="0" y="0"/>
                </a:moveTo>
                <a:lnTo>
                  <a:pt x="6741277" y="0"/>
                </a:lnTo>
                <a:lnTo>
                  <a:pt x="6741277" y="9125247"/>
                </a:lnTo>
                <a:lnTo>
                  <a:pt x="0" y="91252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089866" y="3000748"/>
            <a:ext cx="6213980" cy="2142752"/>
            <a:chOff x="0" y="0"/>
            <a:chExt cx="8285306" cy="285700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90"/>
              <a:ext cx="8285306" cy="196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19"/>
                </a:lnSpc>
              </a:pPr>
              <a:r>
                <a:rPr lang="en-US" sz="9599">
                  <a:solidFill>
                    <a:srgbClr val="FFFFFF"/>
                  </a:solidFill>
                  <a:latin typeface="Linux Biolinum"/>
                  <a:ea typeface="Linux Biolinum"/>
                  <a:cs typeface="Linux Biolinum"/>
                  <a:sym typeface="Linux Biolinum"/>
                </a:rPr>
                <a:t>CHƯƠNG 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97160"/>
              <a:ext cx="8285306" cy="407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sz="1999">
                  <a:solidFill>
                    <a:srgbClr val="FFFFFF"/>
                  </a:solidFill>
                  <a:latin typeface="Fahkwang"/>
                  <a:ea typeface="Fahkwang"/>
                  <a:cs typeface="Fahkwang"/>
                  <a:sym typeface="Fahkwang"/>
                </a:rPr>
                <a:t>Cài đặt và triển kg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DAGqVt7zxF8</dc:identifier>
  <dcterms:modified xsi:type="dcterms:W3CDTF">2011-08-01T06:04:30Z</dcterms:modified>
  <cp:revision>1</cp:revision>
  <dc:title>Thương hiệu Vạn Niên</dc:title>
</cp:coreProperties>
</file>