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Fahkwang Bold" charset="1" panose="00000800000000000000"/>
      <p:regular r:id="rId18"/>
    </p:embeddedFont>
    <p:embeddedFont>
      <p:font typeface="Linux Biolinum" charset="1" panose="02000503000000000000"/>
      <p:regular r:id="rId19"/>
    </p:embeddedFont>
    <p:embeddedFont>
      <p:font typeface="Fahkwang" charset="1" panose="00000500000000000000"/>
      <p:regular r:id="rId20"/>
    </p:embeddedFont>
    <p:embeddedFont>
      <p:font typeface="Muli Bold" charset="1" panose="00000800000000000000"/>
      <p:regular r:id="rId21"/>
    </p:embeddedFont>
    <p:embeddedFont>
      <p:font typeface="Muli Semi-Bold" charset="1" panose="00000700000000000000"/>
      <p:regular r:id="rId22"/>
    </p:embeddedFont>
    <p:embeddedFont>
      <p:font typeface="Muli Extra-Light" charset="1" panose="000003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D7692"/>
        </a:solidFill>
      </p:bgPr>
    </p:bg>
    <p:spTree>
      <p:nvGrpSpPr>
        <p:cNvPr id="1" name=""/>
        <p:cNvGrpSpPr/>
        <p:nvPr/>
      </p:nvGrpSpPr>
      <p:grpSpPr>
        <a:xfrm>
          <a:off x="0" y="0"/>
          <a:ext cx="0" cy="0"/>
          <a:chOff x="0" y="0"/>
          <a:chExt cx="0" cy="0"/>
        </a:xfrm>
      </p:grpSpPr>
      <p:sp>
        <p:nvSpPr>
          <p:cNvPr name="Freeform 2" id="2"/>
          <p:cNvSpPr/>
          <p:nvPr/>
        </p:nvSpPr>
        <p:spPr>
          <a:xfrm flipH="false" flipV="false" rot="-8687688">
            <a:off x="10282257" y="5034286"/>
            <a:ext cx="8922358" cy="9404330"/>
          </a:xfrm>
          <a:custGeom>
            <a:avLst/>
            <a:gdLst/>
            <a:ahLst/>
            <a:cxnLst/>
            <a:rect r="r" b="b" t="t" l="l"/>
            <a:pathLst>
              <a:path h="9404330" w="8922358">
                <a:moveTo>
                  <a:pt x="0" y="0"/>
                </a:moveTo>
                <a:lnTo>
                  <a:pt x="8922358" y="0"/>
                </a:lnTo>
                <a:lnTo>
                  <a:pt x="8922358" y="9404330"/>
                </a:lnTo>
                <a:lnTo>
                  <a:pt x="0" y="9404330"/>
                </a:lnTo>
                <a:lnTo>
                  <a:pt x="0" y="0"/>
                </a:lnTo>
                <a:close/>
              </a:path>
            </a:pathLst>
          </a:custGeom>
          <a:blipFill>
            <a:blip r:embed="rId2"/>
            <a:stretch>
              <a:fillRect l="0" t="0" r="0" b="0"/>
            </a:stretch>
          </a:blipFill>
        </p:spPr>
      </p:sp>
      <p:sp>
        <p:nvSpPr>
          <p:cNvPr name="Freeform 3" id="3"/>
          <p:cNvSpPr/>
          <p:nvPr/>
        </p:nvSpPr>
        <p:spPr>
          <a:xfrm flipH="false" flipV="false" rot="-10013544">
            <a:off x="-1834628" y="-2396987"/>
            <a:ext cx="8825308" cy="8229600"/>
          </a:xfrm>
          <a:custGeom>
            <a:avLst/>
            <a:gdLst/>
            <a:ahLst/>
            <a:cxnLst/>
            <a:rect r="r" b="b" t="t" l="l"/>
            <a:pathLst>
              <a:path h="8229600" w="8825308">
                <a:moveTo>
                  <a:pt x="0" y="0"/>
                </a:moveTo>
                <a:lnTo>
                  <a:pt x="8825308" y="0"/>
                </a:lnTo>
                <a:lnTo>
                  <a:pt x="8825308" y="8229600"/>
                </a:lnTo>
                <a:lnTo>
                  <a:pt x="0" y="8229600"/>
                </a:lnTo>
                <a:lnTo>
                  <a:pt x="0" y="0"/>
                </a:lnTo>
                <a:close/>
              </a:path>
            </a:pathLst>
          </a:custGeom>
          <a:blipFill>
            <a:blip r:embed="rId3"/>
            <a:stretch>
              <a:fillRect l="0" t="0" r="0" b="0"/>
            </a:stretch>
          </a:blipFill>
        </p:spPr>
      </p:sp>
      <p:graphicFrame>
        <p:nvGraphicFramePr>
          <p:cNvPr name="Table 4" id="4"/>
          <p:cNvGraphicFramePr>
            <a:graphicFrameLocks noGrp="true"/>
          </p:cNvGraphicFramePr>
          <p:nvPr/>
        </p:nvGraphicFramePr>
        <p:xfrm>
          <a:off x="4573752" y="5300287"/>
          <a:ext cx="9140495" cy="3467100"/>
        </p:xfrm>
        <a:graphic>
          <a:graphicData uri="http://schemas.openxmlformats.org/drawingml/2006/table">
            <a:tbl>
              <a:tblPr/>
              <a:tblGrid>
                <a:gridCol w="4232735"/>
                <a:gridCol w="4907760"/>
              </a:tblGrid>
              <a:tr h="866775">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Giảng viên hướng dẫn: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TS. Đỗ Thị Minh Nguyệt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6775">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Sinh viên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Trần Văn Thái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6775">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Mã sinh viên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2019604310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6775">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Khóa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520"/>
                        </a:lnSpc>
                        <a:defRPr/>
                      </a:pPr>
                      <a:r>
                        <a:rPr lang="en-US" sz="1800" b="true">
                          <a:solidFill>
                            <a:srgbClr val="FFFFFF"/>
                          </a:solidFill>
                          <a:latin typeface="Fahkwang Bold"/>
                          <a:ea typeface="Fahkwang Bold"/>
                          <a:cs typeface="Fahkwang Bold"/>
                          <a:sym typeface="Fahkwang Bold"/>
                        </a:rPr>
                        <a:t>K14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pSp>
        <p:nvGrpSpPr>
          <p:cNvPr name="Group 5" id="5"/>
          <p:cNvGrpSpPr/>
          <p:nvPr/>
        </p:nvGrpSpPr>
        <p:grpSpPr>
          <a:xfrm rot="0">
            <a:off x="4846685" y="2737217"/>
            <a:ext cx="8594630" cy="833454"/>
            <a:chOff x="0" y="0"/>
            <a:chExt cx="11459507" cy="1111271"/>
          </a:xfrm>
        </p:grpSpPr>
        <p:sp>
          <p:nvSpPr>
            <p:cNvPr name="TextBox 6" id="6"/>
            <p:cNvSpPr txBox="true"/>
            <p:nvPr/>
          </p:nvSpPr>
          <p:spPr>
            <a:xfrm rot="0">
              <a:off x="0" y="-196517"/>
              <a:ext cx="11459507" cy="771525"/>
            </a:xfrm>
            <a:prstGeom prst="rect">
              <a:avLst/>
            </a:prstGeom>
          </p:spPr>
          <p:txBody>
            <a:bodyPr anchor="t" rtlCol="false" tIns="0" lIns="0" bIns="0" rIns="0">
              <a:spAutoFit/>
            </a:bodyPr>
            <a:lstStyle/>
            <a:p>
              <a:pPr algn="ctr">
                <a:lnSpc>
                  <a:spcPts val="4560"/>
                </a:lnSpc>
              </a:pPr>
              <a:r>
                <a:rPr lang="en-US" sz="3800">
                  <a:solidFill>
                    <a:srgbClr val="FFFFFF"/>
                  </a:solidFill>
                  <a:latin typeface="Linux Biolinum"/>
                  <a:ea typeface="Linux Biolinum"/>
                  <a:cs typeface="Linux Biolinum"/>
                  <a:sym typeface="Linux Biolinum"/>
                </a:rPr>
                <a:t>BÁO CÁO ĐỒ ÁN TỐT NGHIỆP</a:t>
              </a:r>
            </a:p>
          </p:txBody>
        </p:sp>
        <p:sp>
          <p:nvSpPr>
            <p:cNvPr name="TextBox 7" id="7"/>
            <p:cNvSpPr txBox="true"/>
            <p:nvPr/>
          </p:nvSpPr>
          <p:spPr>
            <a:xfrm rot="0">
              <a:off x="0" y="539727"/>
              <a:ext cx="11459507" cy="576699"/>
            </a:xfrm>
            <a:prstGeom prst="rect">
              <a:avLst/>
            </a:prstGeom>
          </p:spPr>
          <p:txBody>
            <a:bodyPr anchor="t" rtlCol="false" tIns="0" lIns="0" bIns="0" rIns="0">
              <a:spAutoFit/>
            </a:bodyPr>
            <a:lstStyle/>
            <a:p>
              <a:pPr algn="ctr" marL="0" indent="0" lvl="0">
                <a:lnSpc>
                  <a:spcPts val="3698"/>
                </a:lnSpc>
                <a:spcBef>
                  <a:spcPct val="0"/>
                </a:spcBef>
              </a:pPr>
            </a:p>
          </p:txBody>
        </p:sp>
      </p:grpSp>
      <p:sp>
        <p:nvSpPr>
          <p:cNvPr name="TextBox 8" id="8"/>
          <p:cNvSpPr txBox="true"/>
          <p:nvPr/>
        </p:nvSpPr>
        <p:spPr>
          <a:xfrm rot="0">
            <a:off x="2578026" y="253497"/>
            <a:ext cx="12749528" cy="1970405"/>
          </a:xfrm>
          <a:prstGeom prst="rect">
            <a:avLst/>
          </a:prstGeom>
        </p:spPr>
        <p:txBody>
          <a:bodyPr anchor="t" rtlCol="false" tIns="0" lIns="0" bIns="0" rIns="0">
            <a:spAutoFit/>
          </a:bodyPr>
          <a:lstStyle/>
          <a:p>
            <a:pPr algn="ctr">
              <a:lnSpc>
                <a:spcPts val="5320"/>
              </a:lnSpc>
            </a:pPr>
            <a:r>
              <a:rPr lang="en-US" sz="3800" spc="114">
                <a:solidFill>
                  <a:srgbClr val="FFFFFF"/>
                </a:solidFill>
                <a:latin typeface="Fahkwang"/>
                <a:ea typeface="Fahkwang"/>
                <a:cs typeface="Fahkwang"/>
                <a:sym typeface="Fahkwang"/>
              </a:rPr>
              <a:t>BỘ CÔNG THƯƠNG</a:t>
            </a:r>
          </a:p>
          <a:p>
            <a:pPr algn="ctr">
              <a:lnSpc>
                <a:spcPts val="5320"/>
              </a:lnSpc>
            </a:pPr>
            <a:r>
              <a:rPr lang="en-US" sz="3800" spc="114">
                <a:solidFill>
                  <a:srgbClr val="FFFFFF"/>
                </a:solidFill>
                <a:latin typeface="Fahkwang"/>
                <a:ea typeface="Fahkwang"/>
                <a:cs typeface="Fahkwang"/>
                <a:sym typeface="Fahkwang"/>
              </a:rPr>
              <a:t>TRƯỜNG ĐẠI HỌC CÔNG NGHIỆP HÀ NỘI</a:t>
            </a:r>
          </a:p>
          <a:p>
            <a:pPr algn="ctr">
              <a:lnSpc>
                <a:spcPts val="5320"/>
              </a:lnSpc>
            </a:pPr>
          </a:p>
        </p:txBody>
      </p:sp>
      <p:sp>
        <p:nvSpPr>
          <p:cNvPr name="TextBox 9" id="9"/>
          <p:cNvSpPr txBox="true"/>
          <p:nvPr/>
        </p:nvSpPr>
        <p:spPr>
          <a:xfrm rot="0">
            <a:off x="3290285" y="3519746"/>
            <a:ext cx="11707431" cy="971550"/>
          </a:xfrm>
          <a:prstGeom prst="rect">
            <a:avLst/>
          </a:prstGeom>
        </p:spPr>
        <p:txBody>
          <a:bodyPr anchor="t" rtlCol="false" tIns="0" lIns="0" bIns="0" rIns="0">
            <a:spAutoFit/>
          </a:bodyPr>
          <a:lstStyle/>
          <a:p>
            <a:pPr algn="l">
              <a:lnSpc>
                <a:spcPts val="4160"/>
              </a:lnSpc>
            </a:pPr>
            <a:r>
              <a:rPr lang="en-US" sz="3200" b="true">
                <a:solidFill>
                  <a:srgbClr val="FFFFFF"/>
                </a:solidFill>
                <a:latin typeface="Fahkwang Bold"/>
                <a:ea typeface="Fahkwang Bold"/>
                <a:cs typeface="Fahkwang Bold"/>
                <a:sym typeface="Fahkwang Bold"/>
              </a:rPr>
              <a:t>XÂY DỰNG  WEBSITE BÁN HÀNG BÁN ĐIỆN THOẠI</a:t>
            </a:r>
          </a:p>
          <a:p>
            <a:pPr algn="l">
              <a:lnSpc>
                <a:spcPts val="363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3D7692"/>
        </a:solidFill>
      </p:bgPr>
    </p:bg>
    <p:spTree>
      <p:nvGrpSpPr>
        <p:cNvPr id="1" name=""/>
        <p:cNvGrpSpPr/>
        <p:nvPr/>
      </p:nvGrpSpPr>
      <p:grpSpPr>
        <a:xfrm>
          <a:off x="0" y="0"/>
          <a:ext cx="0" cy="0"/>
          <a:chOff x="0" y="0"/>
          <a:chExt cx="0" cy="0"/>
        </a:xfrm>
      </p:grpSpPr>
      <p:grpSp>
        <p:nvGrpSpPr>
          <p:cNvPr name="Group 2" id="2"/>
          <p:cNvGrpSpPr/>
          <p:nvPr/>
        </p:nvGrpSpPr>
        <p:grpSpPr>
          <a:xfrm rot="0">
            <a:off x="614670" y="1105856"/>
            <a:ext cx="8402807" cy="2062806"/>
            <a:chOff x="0" y="0"/>
            <a:chExt cx="11203743" cy="2750408"/>
          </a:xfrm>
        </p:grpSpPr>
        <p:sp>
          <p:nvSpPr>
            <p:cNvPr name="TextBox 3" id="3"/>
            <p:cNvSpPr txBox="true"/>
            <p:nvPr/>
          </p:nvSpPr>
          <p:spPr>
            <a:xfrm rot="0">
              <a:off x="0" y="-19050"/>
              <a:ext cx="11203743" cy="1962150"/>
            </a:xfrm>
            <a:prstGeom prst="rect">
              <a:avLst/>
            </a:prstGeom>
          </p:spPr>
          <p:txBody>
            <a:bodyPr anchor="t" rtlCol="false" tIns="0" lIns="0" bIns="0" rIns="0">
              <a:spAutoFit/>
            </a:bodyPr>
            <a:lstStyle/>
            <a:p>
              <a:pPr algn="l">
                <a:lnSpc>
                  <a:spcPts val="11519"/>
                </a:lnSpc>
              </a:pPr>
              <a:r>
                <a:rPr lang="en-US" sz="9599">
                  <a:solidFill>
                    <a:srgbClr val="FFFFFF"/>
                  </a:solidFill>
                  <a:latin typeface="Linux Biolinum"/>
                  <a:ea typeface="Linux Biolinum"/>
                  <a:cs typeface="Linux Biolinum"/>
                  <a:sym typeface="Linux Biolinum"/>
                </a:rPr>
                <a:t>NỘI DUNG</a:t>
              </a:r>
            </a:p>
          </p:txBody>
        </p:sp>
        <p:sp>
          <p:nvSpPr>
            <p:cNvPr name="TextBox 4" id="4"/>
            <p:cNvSpPr txBox="true"/>
            <p:nvPr/>
          </p:nvSpPr>
          <p:spPr>
            <a:xfrm rot="0">
              <a:off x="0" y="2111836"/>
              <a:ext cx="11203743" cy="543771"/>
            </a:xfrm>
            <a:prstGeom prst="rect">
              <a:avLst/>
            </a:prstGeom>
          </p:spPr>
          <p:txBody>
            <a:bodyPr anchor="t" rtlCol="false" tIns="0" lIns="0" bIns="0" rIns="0">
              <a:spAutoFit/>
            </a:bodyPr>
            <a:lstStyle/>
            <a:p>
              <a:pPr algn="l">
                <a:lnSpc>
                  <a:spcPts val="3347"/>
                </a:lnSpc>
              </a:pPr>
            </a:p>
          </p:txBody>
        </p:sp>
      </p:grpSp>
      <p:grpSp>
        <p:nvGrpSpPr>
          <p:cNvPr name="Group 5" id="5"/>
          <p:cNvGrpSpPr/>
          <p:nvPr/>
        </p:nvGrpSpPr>
        <p:grpSpPr>
          <a:xfrm rot="0">
            <a:off x="8900573" y="5152720"/>
            <a:ext cx="8358727" cy="508610"/>
            <a:chOff x="0" y="0"/>
            <a:chExt cx="11144969" cy="678147"/>
          </a:xfrm>
        </p:grpSpPr>
        <p:sp>
          <p:nvSpPr>
            <p:cNvPr name="TextBox 6" id="6"/>
            <p:cNvSpPr txBox="true"/>
            <p:nvPr/>
          </p:nvSpPr>
          <p:spPr>
            <a:xfrm rot="0">
              <a:off x="0" y="-403453"/>
              <a:ext cx="681633" cy="1466004"/>
            </a:xfrm>
            <a:prstGeom prst="rect">
              <a:avLst/>
            </a:prstGeom>
          </p:spPr>
          <p:txBody>
            <a:bodyPr anchor="t" rtlCol="false" tIns="0" lIns="0" bIns="0" rIns="0">
              <a:spAutoFit/>
            </a:bodyPr>
            <a:lstStyle/>
            <a:p>
              <a:pPr algn="l">
                <a:lnSpc>
                  <a:spcPts val="2989"/>
                </a:lnSpc>
              </a:pPr>
            </a:p>
            <a:p>
              <a:pPr algn="l">
                <a:lnSpc>
                  <a:spcPts val="2989"/>
                </a:lnSpc>
              </a:pPr>
              <a:r>
                <a:rPr lang="en-US" b="true" sz="2299">
                  <a:solidFill>
                    <a:srgbClr val="FFFFFF"/>
                  </a:solidFill>
                  <a:latin typeface="Fahkwang Bold"/>
                  <a:ea typeface="Fahkwang Bold"/>
                  <a:cs typeface="Fahkwang Bold"/>
                  <a:sym typeface="Fahkwang Bold"/>
                </a:rPr>
                <a:t>01</a:t>
              </a:r>
            </a:p>
            <a:p>
              <a:pPr algn="l">
                <a:lnSpc>
                  <a:spcPts val="2989"/>
                </a:lnSpc>
              </a:pPr>
            </a:p>
          </p:txBody>
        </p:sp>
        <p:sp>
          <p:nvSpPr>
            <p:cNvPr name="TextBox 7" id="7"/>
            <p:cNvSpPr txBox="true"/>
            <p:nvPr/>
          </p:nvSpPr>
          <p:spPr>
            <a:xfrm rot="0">
              <a:off x="1462829" y="31875"/>
              <a:ext cx="9682140" cy="581236"/>
            </a:xfrm>
            <a:prstGeom prst="rect">
              <a:avLst/>
            </a:prstGeom>
          </p:spPr>
          <p:txBody>
            <a:bodyPr anchor="t" rtlCol="false" tIns="0" lIns="0" bIns="0" rIns="0">
              <a:spAutoFit/>
            </a:bodyPr>
            <a:lstStyle/>
            <a:p>
              <a:pPr algn="l">
                <a:lnSpc>
                  <a:spcPts val="3640"/>
                </a:lnSpc>
              </a:pPr>
              <a:r>
                <a:rPr lang="en-US" sz="2800">
                  <a:solidFill>
                    <a:srgbClr val="FFFFFF"/>
                  </a:solidFill>
                  <a:latin typeface="Fahkwang"/>
                  <a:ea typeface="Fahkwang"/>
                  <a:cs typeface="Fahkwang"/>
                  <a:sym typeface="Fahkwang"/>
                </a:rPr>
                <a:t>Tổng quan</a:t>
              </a:r>
            </a:p>
          </p:txBody>
        </p:sp>
      </p:grpSp>
      <p:grpSp>
        <p:nvGrpSpPr>
          <p:cNvPr name="Group 8" id="8"/>
          <p:cNvGrpSpPr/>
          <p:nvPr/>
        </p:nvGrpSpPr>
        <p:grpSpPr>
          <a:xfrm rot="0">
            <a:off x="8900573" y="6342532"/>
            <a:ext cx="8358727" cy="863897"/>
            <a:chOff x="0" y="0"/>
            <a:chExt cx="11144969" cy="1151863"/>
          </a:xfrm>
        </p:grpSpPr>
        <p:sp>
          <p:nvSpPr>
            <p:cNvPr name="TextBox 9" id="9"/>
            <p:cNvSpPr txBox="true"/>
            <p:nvPr/>
          </p:nvSpPr>
          <p:spPr>
            <a:xfrm rot="0">
              <a:off x="0" y="-164831"/>
              <a:ext cx="800199" cy="1466004"/>
            </a:xfrm>
            <a:prstGeom prst="rect">
              <a:avLst/>
            </a:prstGeom>
          </p:spPr>
          <p:txBody>
            <a:bodyPr anchor="t" rtlCol="false" tIns="0" lIns="0" bIns="0" rIns="0">
              <a:spAutoFit/>
            </a:bodyPr>
            <a:lstStyle/>
            <a:p>
              <a:pPr algn="l">
                <a:lnSpc>
                  <a:spcPts val="2989"/>
                </a:lnSpc>
              </a:pPr>
            </a:p>
            <a:p>
              <a:pPr algn="l">
                <a:lnSpc>
                  <a:spcPts val="2989"/>
                </a:lnSpc>
              </a:pPr>
              <a:r>
                <a:rPr lang="en-US" b="true" sz="2299">
                  <a:solidFill>
                    <a:srgbClr val="FFFFFF"/>
                  </a:solidFill>
                  <a:latin typeface="Fahkwang Bold"/>
                  <a:ea typeface="Fahkwang Bold"/>
                  <a:cs typeface="Fahkwang Bold"/>
                  <a:sym typeface="Fahkwang Bold"/>
                </a:rPr>
                <a:t>02</a:t>
              </a:r>
            </a:p>
            <a:p>
              <a:pPr algn="l">
                <a:lnSpc>
                  <a:spcPts val="2989"/>
                </a:lnSpc>
              </a:pPr>
            </a:p>
          </p:txBody>
        </p:sp>
        <p:sp>
          <p:nvSpPr>
            <p:cNvPr name="TextBox 10" id="10"/>
            <p:cNvSpPr txBox="true"/>
            <p:nvPr/>
          </p:nvSpPr>
          <p:spPr>
            <a:xfrm rot="0">
              <a:off x="1462829" y="275788"/>
              <a:ext cx="9682140" cy="581236"/>
            </a:xfrm>
            <a:prstGeom prst="rect">
              <a:avLst/>
            </a:prstGeom>
          </p:spPr>
          <p:txBody>
            <a:bodyPr anchor="t" rtlCol="false" tIns="0" lIns="0" bIns="0" rIns="0">
              <a:spAutoFit/>
            </a:bodyPr>
            <a:lstStyle/>
            <a:p>
              <a:pPr algn="l">
                <a:lnSpc>
                  <a:spcPts val="3640"/>
                </a:lnSpc>
              </a:pPr>
              <a:r>
                <a:rPr lang="en-US" sz="2800">
                  <a:solidFill>
                    <a:srgbClr val="FFFFFF"/>
                  </a:solidFill>
                  <a:latin typeface="Fahkwang"/>
                  <a:ea typeface="Fahkwang"/>
                  <a:cs typeface="Fahkwang"/>
                  <a:sym typeface="Fahkwang"/>
                </a:rPr>
                <a:t>Phân tích thiết kế hệ thống</a:t>
              </a:r>
            </a:p>
          </p:txBody>
        </p:sp>
      </p:grpSp>
      <p:grpSp>
        <p:nvGrpSpPr>
          <p:cNvPr name="Group 11" id="11"/>
          <p:cNvGrpSpPr/>
          <p:nvPr/>
        </p:nvGrpSpPr>
        <p:grpSpPr>
          <a:xfrm rot="0">
            <a:off x="8900573" y="8040093"/>
            <a:ext cx="8358727" cy="888662"/>
            <a:chOff x="0" y="0"/>
            <a:chExt cx="11144969" cy="1184883"/>
          </a:xfrm>
        </p:grpSpPr>
        <p:sp>
          <p:nvSpPr>
            <p:cNvPr name="TextBox 12" id="12"/>
            <p:cNvSpPr txBox="true"/>
            <p:nvPr/>
          </p:nvSpPr>
          <p:spPr>
            <a:xfrm rot="0">
              <a:off x="0" y="-171887"/>
              <a:ext cx="797223" cy="1499024"/>
            </a:xfrm>
            <a:prstGeom prst="rect">
              <a:avLst/>
            </a:prstGeom>
          </p:spPr>
          <p:txBody>
            <a:bodyPr anchor="t" rtlCol="false" tIns="0" lIns="0" bIns="0" rIns="0">
              <a:spAutoFit/>
            </a:bodyPr>
            <a:lstStyle/>
            <a:p>
              <a:pPr algn="l">
                <a:lnSpc>
                  <a:spcPts val="2989"/>
                </a:lnSpc>
              </a:pPr>
            </a:p>
            <a:p>
              <a:pPr algn="l">
                <a:lnSpc>
                  <a:spcPts val="2989"/>
                </a:lnSpc>
              </a:pPr>
              <a:r>
                <a:rPr lang="en-US" b="true" sz="2299">
                  <a:solidFill>
                    <a:srgbClr val="FFFFFF"/>
                  </a:solidFill>
                  <a:latin typeface="Fahkwang Bold"/>
                  <a:ea typeface="Fahkwang Bold"/>
                  <a:cs typeface="Fahkwang Bold"/>
                  <a:sym typeface="Fahkwang Bold"/>
                </a:rPr>
                <a:t>03</a:t>
              </a:r>
            </a:p>
            <a:p>
              <a:pPr algn="l">
                <a:lnSpc>
                  <a:spcPts val="2989"/>
                </a:lnSpc>
              </a:pPr>
            </a:p>
          </p:txBody>
        </p:sp>
        <p:sp>
          <p:nvSpPr>
            <p:cNvPr name="TextBox 13" id="13"/>
            <p:cNvSpPr txBox="true"/>
            <p:nvPr/>
          </p:nvSpPr>
          <p:spPr>
            <a:xfrm rot="0">
              <a:off x="1462829" y="292298"/>
              <a:ext cx="9682140" cy="581236"/>
            </a:xfrm>
            <a:prstGeom prst="rect">
              <a:avLst/>
            </a:prstGeom>
          </p:spPr>
          <p:txBody>
            <a:bodyPr anchor="t" rtlCol="false" tIns="0" lIns="0" bIns="0" rIns="0">
              <a:spAutoFit/>
            </a:bodyPr>
            <a:lstStyle/>
            <a:p>
              <a:pPr algn="l">
                <a:lnSpc>
                  <a:spcPts val="3640"/>
                </a:lnSpc>
              </a:pPr>
              <a:r>
                <a:rPr lang="en-US" sz="2800">
                  <a:solidFill>
                    <a:srgbClr val="FFFFFF"/>
                  </a:solidFill>
                  <a:latin typeface="Fahkwang"/>
                  <a:ea typeface="Fahkwang"/>
                  <a:cs typeface="Fahkwang"/>
                  <a:sym typeface="Fahkwang"/>
                </a:rPr>
                <a:t>Cài đặt và triển khai</a:t>
              </a:r>
            </a:p>
          </p:txBody>
        </p:sp>
      </p:grpSp>
      <p:sp>
        <p:nvSpPr>
          <p:cNvPr name="AutoShape 14" id="14"/>
          <p:cNvSpPr/>
          <p:nvPr/>
        </p:nvSpPr>
        <p:spPr>
          <a:xfrm rot="0">
            <a:off x="8900573" y="5951076"/>
            <a:ext cx="8358727" cy="0"/>
          </a:xfrm>
          <a:prstGeom prst="line">
            <a:avLst/>
          </a:prstGeom>
          <a:ln cap="rnd" w="9525">
            <a:solidFill>
              <a:srgbClr val="FFFFFF"/>
            </a:solidFill>
            <a:prstDash val="solid"/>
            <a:headEnd type="none" len="sm" w="sm"/>
            <a:tailEnd type="none" len="sm" w="sm"/>
          </a:ln>
        </p:spPr>
      </p:sp>
      <p:sp>
        <p:nvSpPr>
          <p:cNvPr name="AutoShape 15" id="15"/>
          <p:cNvSpPr/>
          <p:nvPr/>
        </p:nvSpPr>
        <p:spPr>
          <a:xfrm rot="0">
            <a:off x="8900573" y="7641679"/>
            <a:ext cx="8358727" cy="0"/>
          </a:xfrm>
          <a:prstGeom prst="line">
            <a:avLst/>
          </a:prstGeom>
          <a:ln cap="rnd" w="9525">
            <a:solidFill>
              <a:srgbClr val="FFFFFF"/>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F2A37"/>
        </a:solidFill>
      </p:bgPr>
    </p:bg>
    <p:spTree>
      <p:nvGrpSpPr>
        <p:cNvPr id="1" name=""/>
        <p:cNvGrpSpPr/>
        <p:nvPr/>
      </p:nvGrpSpPr>
      <p:grpSpPr>
        <a:xfrm>
          <a:off x="0" y="0"/>
          <a:ext cx="0" cy="0"/>
          <a:chOff x="0" y="0"/>
          <a:chExt cx="0" cy="0"/>
        </a:xfrm>
      </p:grpSpPr>
      <p:sp>
        <p:nvSpPr>
          <p:cNvPr name="Freeform 2" id="2"/>
          <p:cNvSpPr/>
          <p:nvPr/>
        </p:nvSpPr>
        <p:spPr>
          <a:xfrm flipH="false" flipV="false" rot="0">
            <a:off x="-1336792" y="3248361"/>
            <a:ext cx="8825308" cy="8229600"/>
          </a:xfrm>
          <a:custGeom>
            <a:avLst/>
            <a:gdLst/>
            <a:ahLst/>
            <a:cxnLst/>
            <a:rect r="r" b="b" t="t" l="l"/>
            <a:pathLst>
              <a:path h="8229600" w="8825308">
                <a:moveTo>
                  <a:pt x="0" y="0"/>
                </a:moveTo>
                <a:lnTo>
                  <a:pt x="8825308" y="0"/>
                </a:lnTo>
                <a:lnTo>
                  <a:pt x="8825308"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2903874">
            <a:off x="-1262775" y="-2893697"/>
            <a:ext cx="10898092" cy="9522208"/>
          </a:xfrm>
          <a:custGeom>
            <a:avLst/>
            <a:gdLst/>
            <a:ahLst/>
            <a:cxnLst/>
            <a:rect r="r" b="b" t="t" l="l"/>
            <a:pathLst>
              <a:path h="9522208" w="10898092">
                <a:moveTo>
                  <a:pt x="0" y="0"/>
                </a:moveTo>
                <a:lnTo>
                  <a:pt x="10898093" y="0"/>
                </a:lnTo>
                <a:lnTo>
                  <a:pt x="10898093" y="9522208"/>
                </a:lnTo>
                <a:lnTo>
                  <a:pt x="0" y="9522208"/>
                </a:lnTo>
                <a:lnTo>
                  <a:pt x="0" y="0"/>
                </a:lnTo>
                <a:close/>
              </a:path>
            </a:pathLst>
          </a:custGeom>
          <a:blipFill>
            <a:blip r:embed="rId3"/>
            <a:stretch>
              <a:fillRect l="0" t="0" r="0" b="0"/>
            </a:stretch>
          </a:blipFill>
        </p:spPr>
      </p:sp>
      <p:sp>
        <p:nvSpPr>
          <p:cNvPr name="Freeform 4" id="4"/>
          <p:cNvSpPr/>
          <p:nvPr/>
        </p:nvSpPr>
        <p:spPr>
          <a:xfrm flipH="false" flipV="false" rot="0">
            <a:off x="7181801" y="4540590"/>
            <a:ext cx="6741277" cy="9125247"/>
          </a:xfrm>
          <a:custGeom>
            <a:avLst/>
            <a:gdLst/>
            <a:ahLst/>
            <a:cxnLst/>
            <a:rect r="r" b="b" t="t" l="l"/>
            <a:pathLst>
              <a:path h="9125247" w="6741277">
                <a:moveTo>
                  <a:pt x="0" y="0"/>
                </a:moveTo>
                <a:lnTo>
                  <a:pt x="6741277" y="0"/>
                </a:lnTo>
                <a:lnTo>
                  <a:pt x="6741277" y="9125247"/>
                </a:lnTo>
                <a:lnTo>
                  <a:pt x="0" y="9125247"/>
                </a:lnTo>
                <a:lnTo>
                  <a:pt x="0" y="0"/>
                </a:lnTo>
                <a:close/>
              </a:path>
            </a:pathLst>
          </a:custGeom>
          <a:blipFill>
            <a:blip r:embed="rId4"/>
            <a:stretch>
              <a:fillRect l="0" t="0" r="0" b="0"/>
            </a:stretch>
          </a:blipFill>
        </p:spPr>
      </p:sp>
      <p:grpSp>
        <p:nvGrpSpPr>
          <p:cNvPr name="Group 5" id="5"/>
          <p:cNvGrpSpPr/>
          <p:nvPr/>
        </p:nvGrpSpPr>
        <p:grpSpPr>
          <a:xfrm rot="0">
            <a:off x="11045320" y="3957824"/>
            <a:ext cx="6213980" cy="2371352"/>
            <a:chOff x="0" y="0"/>
            <a:chExt cx="8285306" cy="3161803"/>
          </a:xfrm>
        </p:grpSpPr>
        <p:sp>
          <p:nvSpPr>
            <p:cNvPr name="TextBox 6" id="6"/>
            <p:cNvSpPr txBox="true"/>
            <p:nvPr/>
          </p:nvSpPr>
          <p:spPr>
            <a:xfrm rot="0">
              <a:off x="0" y="-19090"/>
              <a:ext cx="8285306" cy="1962150"/>
            </a:xfrm>
            <a:prstGeom prst="rect">
              <a:avLst/>
            </a:prstGeom>
          </p:spPr>
          <p:txBody>
            <a:bodyPr anchor="t" rtlCol="false" tIns="0" lIns="0" bIns="0" rIns="0">
              <a:spAutoFit/>
            </a:bodyPr>
            <a:lstStyle/>
            <a:p>
              <a:pPr algn="l">
                <a:lnSpc>
                  <a:spcPts val="11519"/>
                </a:lnSpc>
              </a:pPr>
              <a:r>
                <a:rPr lang="en-US" sz="9599">
                  <a:solidFill>
                    <a:srgbClr val="FFFFFF"/>
                  </a:solidFill>
                  <a:latin typeface="Linux Biolinum"/>
                  <a:ea typeface="Linux Biolinum"/>
                  <a:cs typeface="Linux Biolinum"/>
                  <a:sym typeface="Linux Biolinum"/>
                </a:rPr>
                <a:t>CHƯƠNG 1</a:t>
              </a:r>
            </a:p>
          </p:txBody>
        </p:sp>
        <p:sp>
          <p:nvSpPr>
            <p:cNvPr name="TextBox 7" id="7"/>
            <p:cNvSpPr txBox="true"/>
            <p:nvPr/>
          </p:nvSpPr>
          <p:spPr>
            <a:xfrm rot="0">
              <a:off x="0" y="2278110"/>
              <a:ext cx="8285306" cy="731309"/>
            </a:xfrm>
            <a:prstGeom prst="rect">
              <a:avLst/>
            </a:prstGeom>
          </p:spPr>
          <p:txBody>
            <a:bodyPr anchor="t" rtlCol="false" tIns="0" lIns="0" bIns="0" rIns="0">
              <a:spAutoFit/>
            </a:bodyPr>
            <a:lstStyle/>
            <a:p>
              <a:pPr algn="l">
                <a:lnSpc>
                  <a:spcPts val="4549"/>
                </a:lnSpc>
              </a:pPr>
              <a:r>
                <a:rPr lang="en-US" sz="3499">
                  <a:solidFill>
                    <a:srgbClr val="FFFFFF"/>
                  </a:solidFill>
                  <a:latin typeface="Fahkwang"/>
                  <a:ea typeface="Fahkwang"/>
                  <a:cs typeface="Fahkwang"/>
                  <a:sym typeface="Fahkwang"/>
                </a:rPr>
                <a:t>Tổng quan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D7692"/>
        </a:solidFill>
      </p:bgPr>
    </p:bg>
    <p:spTree>
      <p:nvGrpSpPr>
        <p:cNvPr id="1" name=""/>
        <p:cNvGrpSpPr/>
        <p:nvPr/>
      </p:nvGrpSpPr>
      <p:grpSpPr>
        <a:xfrm>
          <a:off x="0" y="0"/>
          <a:ext cx="0" cy="0"/>
          <a:chOff x="0" y="0"/>
          <a:chExt cx="0" cy="0"/>
        </a:xfrm>
      </p:grpSpPr>
      <p:grpSp>
        <p:nvGrpSpPr>
          <p:cNvPr name="Group 2" id="2"/>
          <p:cNvGrpSpPr/>
          <p:nvPr/>
        </p:nvGrpSpPr>
        <p:grpSpPr>
          <a:xfrm rot="0">
            <a:off x="8071283" y="1028700"/>
            <a:ext cx="9339165" cy="2270050"/>
            <a:chOff x="0" y="0"/>
            <a:chExt cx="12452220" cy="3026733"/>
          </a:xfrm>
        </p:grpSpPr>
        <p:sp>
          <p:nvSpPr>
            <p:cNvPr name="TextBox 3" id="3"/>
            <p:cNvSpPr txBox="true"/>
            <p:nvPr/>
          </p:nvSpPr>
          <p:spPr>
            <a:xfrm rot="0">
              <a:off x="0" y="-28575"/>
              <a:ext cx="12452220" cy="485351"/>
            </a:xfrm>
            <a:prstGeom prst="rect">
              <a:avLst/>
            </a:prstGeom>
          </p:spPr>
          <p:txBody>
            <a:bodyPr anchor="t" rtlCol="false" tIns="0" lIns="0" bIns="0" rIns="0">
              <a:spAutoFit/>
            </a:bodyPr>
            <a:lstStyle/>
            <a:p>
              <a:pPr algn="l">
                <a:lnSpc>
                  <a:spcPts val="2957"/>
                </a:lnSpc>
              </a:pPr>
              <a:r>
                <a:rPr lang="en-US" b="true" sz="2275">
                  <a:solidFill>
                    <a:srgbClr val="FFFFFF"/>
                  </a:solidFill>
                  <a:latin typeface="Fahkwang Bold"/>
                  <a:ea typeface="Fahkwang Bold"/>
                  <a:cs typeface="Fahkwang Bold"/>
                  <a:sym typeface="Fahkwang Bold"/>
                </a:rPr>
                <a:t>Tổng quan về ngôn ngữ lập trình C#</a:t>
              </a:r>
            </a:p>
          </p:txBody>
        </p:sp>
        <p:sp>
          <p:nvSpPr>
            <p:cNvPr name="TextBox 4" id="4"/>
            <p:cNvSpPr txBox="true"/>
            <p:nvPr/>
          </p:nvSpPr>
          <p:spPr>
            <a:xfrm rot="0">
              <a:off x="0" y="965980"/>
              <a:ext cx="12452220" cy="2061210"/>
            </a:xfrm>
            <a:prstGeom prst="rect">
              <a:avLst/>
            </a:prstGeom>
          </p:spPr>
          <p:txBody>
            <a:bodyPr anchor="t" rtlCol="false" tIns="0" lIns="0" bIns="0" rIns="0">
              <a:spAutoFit/>
            </a:bodyPr>
            <a:lstStyle/>
            <a:p>
              <a:pPr algn="l">
                <a:lnSpc>
                  <a:spcPts val="3120"/>
                </a:lnSpc>
              </a:pPr>
              <a:r>
                <a:rPr lang="en-US" sz="2400">
                  <a:solidFill>
                    <a:srgbClr val="FFFFFF"/>
                  </a:solidFill>
                  <a:latin typeface="Fahkwang"/>
                  <a:ea typeface="Fahkwang"/>
                  <a:cs typeface="Fahkwang"/>
                  <a:sym typeface="Fahkwang"/>
                </a:rPr>
                <a:t>C# (</a:t>
              </a:r>
              <a:r>
                <a:rPr lang="en-US" sz="2400">
                  <a:solidFill>
                    <a:srgbClr val="FFFFFF"/>
                  </a:solidFill>
                  <a:latin typeface="Fahkwang"/>
                  <a:ea typeface="Fahkwang"/>
                  <a:cs typeface="Fahkwang"/>
                  <a:sym typeface="Fahkwang"/>
                </a:rPr>
                <a:t>hay C sharp) là một ngôn ngữ lập trình đơn giản, được phát triển bởi đội ngũ kỹ sư của Microsoft vào năm 2000, trong đó người dẫn đầu là Anders Hejlsberg và Scott Wiltamuth</a:t>
              </a:r>
            </a:p>
          </p:txBody>
        </p:sp>
      </p:grpSp>
      <p:grpSp>
        <p:nvGrpSpPr>
          <p:cNvPr name="Group 5" id="5"/>
          <p:cNvGrpSpPr/>
          <p:nvPr/>
        </p:nvGrpSpPr>
        <p:grpSpPr>
          <a:xfrm rot="0">
            <a:off x="8071283" y="4264358"/>
            <a:ext cx="9188017" cy="1364696"/>
            <a:chOff x="0" y="0"/>
            <a:chExt cx="12250689" cy="1819595"/>
          </a:xfrm>
        </p:grpSpPr>
        <p:sp>
          <p:nvSpPr>
            <p:cNvPr name="TextBox 6" id="6"/>
            <p:cNvSpPr txBox="true"/>
            <p:nvPr/>
          </p:nvSpPr>
          <p:spPr>
            <a:xfrm rot="0">
              <a:off x="0" y="-19050"/>
              <a:ext cx="12250689" cy="581236"/>
            </a:xfrm>
            <a:prstGeom prst="rect">
              <a:avLst/>
            </a:prstGeom>
          </p:spPr>
          <p:txBody>
            <a:bodyPr anchor="t" rtlCol="false" tIns="0" lIns="0" bIns="0" rIns="0">
              <a:spAutoFit/>
            </a:bodyPr>
            <a:lstStyle/>
            <a:p>
              <a:pPr algn="l">
                <a:lnSpc>
                  <a:spcPts val="3640"/>
                </a:lnSpc>
              </a:pPr>
              <a:r>
                <a:rPr lang="en-US" b="true" sz="2800">
                  <a:solidFill>
                    <a:srgbClr val="FFFFFF"/>
                  </a:solidFill>
                  <a:latin typeface="Fahkwang Bold"/>
                  <a:ea typeface="Fahkwang Bold"/>
                  <a:cs typeface="Fahkwang Bold"/>
                  <a:sym typeface="Fahkwang Bold"/>
                </a:rPr>
                <a:t>Tổng quan về .Net Core</a:t>
              </a:r>
            </a:p>
          </p:txBody>
        </p:sp>
        <p:sp>
          <p:nvSpPr>
            <p:cNvPr name="TextBox 7" id="7"/>
            <p:cNvSpPr txBox="true"/>
            <p:nvPr/>
          </p:nvSpPr>
          <p:spPr>
            <a:xfrm rot="0">
              <a:off x="0" y="800470"/>
              <a:ext cx="12250689" cy="1019810"/>
            </a:xfrm>
            <a:prstGeom prst="rect">
              <a:avLst/>
            </a:prstGeom>
          </p:spPr>
          <p:txBody>
            <a:bodyPr anchor="t" rtlCol="false" tIns="0" lIns="0" bIns="0" rIns="0">
              <a:spAutoFit/>
            </a:bodyPr>
            <a:lstStyle/>
            <a:p>
              <a:pPr algn="l">
                <a:lnSpc>
                  <a:spcPts val="3120"/>
                </a:lnSpc>
              </a:pPr>
              <a:r>
                <a:rPr lang="en-US" sz="2400">
                  <a:solidFill>
                    <a:srgbClr val="FFFFFF"/>
                  </a:solidFill>
                  <a:latin typeface="Fahkwang"/>
                  <a:ea typeface="Fahkwang"/>
                  <a:cs typeface="Fahkwang"/>
                  <a:sym typeface="Fahkwang"/>
                </a:rPr>
                <a:t>NE</a:t>
              </a:r>
              <a:r>
                <a:rPr lang="en-US" sz="2400">
                  <a:solidFill>
                    <a:srgbClr val="FFFFFF"/>
                  </a:solidFill>
                  <a:latin typeface="Fahkwang"/>
                  <a:ea typeface="Fahkwang"/>
                  <a:cs typeface="Fahkwang"/>
                  <a:sym typeface="Fahkwang"/>
                </a:rPr>
                <a:t>T Core là một nền tảng phát triển đa mục đích, mã nguồn mở được duy trì bởi Microsoft và cộng đồng </a:t>
              </a:r>
            </a:p>
          </p:txBody>
        </p:sp>
      </p:grpSp>
      <p:grpSp>
        <p:nvGrpSpPr>
          <p:cNvPr name="Group 8" id="8"/>
          <p:cNvGrpSpPr/>
          <p:nvPr/>
        </p:nvGrpSpPr>
        <p:grpSpPr>
          <a:xfrm rot="0">
            <a:off x="8071283" y="6707531"/>
            <a:ext cx="9339165" cy="2969611"/>
            <a:chOff x="0" y="0"/>
            <a:chExt cx="12452220" cy="3959481"/>
          </a:xfrm>
        </p:grpSpPr>
        <p:sp>
          <p:nvSpPr>
            <p:cNvPr name="TextBox 9" id="9"/>
            <p:cNvSpPr txBox="true"/>
            <p:nvPr/>
          </p:nvSpPr>
          <p:spPr>
            <a:xfrm rot="0">
              <a:off x="0" y="-19050"/>
              <a:ext cx="12452220" cy="581236"/>
            </a:xfrm>
            <a:prstGeom prst="rect">
              <a:avLst/>
            </a:prstGeom>
          </p:spPr>
          <p:txBody>
            <a:bodyPr anchor="t" rtlCol="false" tIns="0" lIns="0" bIns="0" rIns="0">
              <a:spAutoFit/>
            </a:bodyPr>
            <a:lstStyle/>
            <a:p>
              <a:pPr algn="l">
                <a:lnSpc>
                  <a:spcPts val="3640"/>
                </a:lnSpc>
              </a:pPr>
              <a:r>
                <a:rPr lang="en-US" sz="2800" b="true">
                  <a:solidFill>
                    <a:srgbClr val="FFFFFF"/>
                  </a:solidFill>
                  <a:latin typeface="Fahkwang Bold"/>
                  <a:ea typeface="Fahkwang Bold"/>
                  <a:cs typeface="Fahkwang Bold"/>
                  <a:sym typeface="Fahkwang Bold"/>
                </a:rPr>
                <a:t>1.1.1</a:t>
              </a:r>
              <a:r>
                <a:rPr lang="en-US" b="true" sz="2800">
                  <a:solidFill>
                    <a:srgbClr val="FFFFFF"/>
                  </a:solidFill>
                  <a:latin typeface="Fahkwang Bold"/>
                  <a:ea typeface="Fahkwang Bold"/>
                  <a:cs typeface="Fahkwang Bold"/>
                  <a:sym typeface="Fahkwang Bold"/>
                </a:rPr>
                <a:t> Tổng quan về VueJS</a:t>
              </a:r>
            </a:p>
          </p:txBody>
        </p:sp>
        <p:sp>
          <p:nvSpPr>
            <p:cNvPr name="TextBox 10" id="10"/>
            <p:cNvSpPr txBox="true"/>
            <p:nvPr/>
          </p:nvSpPr>
          <p:spPr>
            <a:xfrm rot="0">
              <a:off x="0" y="857328"/>
              <a:ext cx="12452220" cy="3102610"/>
            </a:xfrm>
            <a:prstGeom prst="rect">
              <a:avLst/>
            </a:prstGeom>
          </p:spPr>
          <p:txBody>
            <a:bodyPr anchor="t" rtlCol="false" tIns="0" lIns="0" bIns="0" rIns="0">
              <a:spAutoFit/>
            </a:bodyPr>
            <a:lstStyle/>
            <a:p>
              <a:pPr algn="l">
                <a:lnSpc>
                  <a:spcPts val="3120"/>
                </a:lnSpc>
              </a:pPr>
              <a:r>
                <a:rPr lang="en-US" sz="2400">
                  <a:solidFill>
                    <a:srgbClr val="FFFFFF"/>
                  </a:solidFill>
                  <a:latin typeface="Fahkwang"/>
                  <a:ea typeface="Fahkwang"/>
                  <a:cs typeface="Fahkwang"/>
                  <a:sym typeface="Fahkwang"/>
                </a:rPr>
                <a:t>VueJS là một framework Javascript được tạo bởi Evan You, giúp chúng ta xây dựng giao diện người dùng cũng như xây dựng Single Page Application thân thiện với người dùng, chúng xây dựng từ các thư viện, cách triển khai component, các chức năng đặc trưng của nó như SFC (Single File Component)</a:t>
              </a:r>
            </a:p>
          </p:txBody>
        </p:sp>
      </p:grpSp>
      <p:sp>
        <p:nvSpPr>
          <p:cNvPr name="TextBox 11" id="11"/>
          <p:cNvSpPr txBox="true"/>
          <p:nvPr/>
        </p:nvSpPr>
        <p:spPr>
          <a:xfrm rot="0">
            <a:off x="1028700" y="1019175"/>
            <a:ext cx="4630671" cy="2238375"/>
          </a:xfrm>
          <a:prstGeom prst="rect">
            <a:avLst/>
          </a:prstGeom>
        </p:spPr>
        <p:txBody>
          <a:bodyPr anchor="t" rtlCol="false" tIns="0" lIns="0" bIns="0" rIns="0">
            <a:spAutoFit/>
          </a:bodyPr>
          <a:lstStyle/>
          <a:p>
            <a:pPr algn="l">
              <a:lnSpc>
                <a:spcPts val="5880"/>
              </a:lnSpc>
            </a:pPr>
            <a:r>
              <a:rPr lang="en-US" sz="4900">
                <a:solidFill>
                  <a:srgbClr val="FFFFFF"/>
                </a:solidFill>
                <a:latin typeface="Linux Biolinum"/>
                <a:ea typeface="Linux Biolinum"/>
                <a:cs typeface="Linux Biolinum"/>
                <a:sym typeface="Linux Biolinum"/>
              </a:rPr>
              <a:t>TỔNG QUAN VỀ CÔNG NGHỆ SỬ DỤNG</a:t>
            </a:r>
          </a:p>
        </p:txBody>
      </p:sp>
      <p:sp>
        <p:nvSpPr>
          <p:cNvPr name="AutoShape 12" id="12"/>
          <p:cNvSpPr/>
          <p:nvPr/>
        </p:nvSpPr>
        <p:spPr>
          <a:xfrm flipH="true">
            <a:off x="6619875" y="6033866"/>
            <a:ext cx="10639425" cy="0"/>
          </a:xfrm>
          <a:prstGeom prst="line">
            <a:avLst/>
          </a:prstGeom>
          <a:ln cap="rnd" w="9525">
            <a:solidFill>
              <a:srgbClr val="FFFFFF"/>
            </a:solidFill>
            <a:prstDash val="solid"/>
            <a:headEnd type="none" len="sm" w="sm"/>
            <a:tailEnd type="none" len="sm" w="sm"/>
          </a:ln>
        </p:spPr>
      </p:sp>
      <p:sp>
        <p:nvSpPr>
          <p:cNvPr name="AutoShape 13" id="13"/>
          <p:cNvSpPr/>
          <p:nvPr/>
        </p:nvSpPr>
        <p:spPr>
          <a:xfrm flipH="true" flipV="true">
            <a:off x="6619875" y="3663197"/>
            <a:ext cx="10639425" cy="0"/>
          </a:xfrm>
          <a:prstGeom prst="line">
            <a:avLst/>
          </a:prstGeom>
          <a:ln cap="rnd" w="9525">
            <a:solidFill>
              <a:srgbClr val="FFFFFF"/>
            </a:solidFill>
            <a:prstDash val="solid"/>
            <a:headEnd type="none" len="sm" w="sm"/>
            <a:tailEnd type="none" len="sm" w="sm"/>
          </a:ln>
        </p:spPr>
      </p:sp>
      <p:sp>
        <p:nvSpPr>
          <p:cNvPr name="Freeform 14" id="14"/>
          <p:cNvSpPr/>
          <p:nvPr/>
        </p:nvSpPr>
        <p:spPr>
          <a:xfrm flipH="false" flipV="false" rot="0">
            <a:off x="6507503" y="1028700"/>
            <a:ext cx="979590" cy="632281"/>
          </a:xfrm>
          <a:custGeom>
            <a:avLst/>
            <a:gdLst/>
            <a:ahLst/>
            <a:cxnLst/>
            <a:rect r="r" b="b" t="t" l="l"/>
            <a:pathLst>
              <a:path h="632281" w="979590">
                <a:moveTo>
                  <a:pt x="0" y="0"/>
                </a:moveTo>
                <a:lnTo>
                  <a:pt x="979590" y="0"/>
                </a:lnTo>
                <a:lnTo>
                  <a:pt x="979590" y="632281"/>
                </a:lnTo>
                <a:lnTo>
                  <a:pt x="0" y="6322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6801312" y="4353217"/>
            <a:ext cx="504344" cy="790283"/>
          </a:xfrm>
          <a:custGeom>
            <a:avLst/>
            <a:gdLst/>
            <a:ahLst/>
            <a:cxnLst/>
            <a:rect r="r" b="b" t="t" l="l"/>
            <a:pathLst>
              <a:path h="790283" w="504344">
                <a:moveTo>
                  <a:pt x="0" y="0"/>
                </a:moveTo>
                <a:lnTo>
                  <a:pt x="504344" y="0"/>
                </a:lnTo>
                <a:lnTo>
                  <a:pt x="504344" y="790283"/>
                </a:lnTo>
                <a:lnTo>
                  <a:pt x="0" y="79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619875" y="6826047"/>
            <a:ext cx="867218" cy="632281"/>
          </a:xfrm>
          <a:custGeom>
            <a:avLst/>
            <a:gdLst/>
            <a:ahLst/>
            <a:cxnLst/>
            <a:rect r="r" b="b" t="t" l="l"/>
            <a:pathLst>
              <a:path h="632281" w="867218">
                <a:moveTo>
                  <a:pt x="0" y="0"/>
                </a:moveTo>
                <a:lnTo>
                  <a:pt x="867218" y="0"/>
                </a:lnTo>
                <a:lnTo>
                  <a:pt x="867218" y="632281"/>
                </a:lnTo>
                <a:lnTo>
                  <a:pt x="0" y="6322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D7692"/>
        </a:solidFill>
      </p:bgPr>
    </p:bg>
    <p:spTree>
      <p:nvGrpSpPr>
        <p:cNvPr id="1" name=""/>
        <p:cNvGrpSpPr/>
        <p:nvPr/>
      </p:nvGrpSpPr>
      <p:grpSpPr>
        <a:xfrm>
          <a:off x="0" y="0"/>
          <a:ext cx="0" cy="0"/>
          <a:chOff x="0" y="0"/>
          <a:chExt cx="0" cy="0"/>
        </a:xfrm>
      </p:grpSpPr>
      <p:sp>
        <p:nvSpPr>
          <p:cNvPr name="Freeform 2" id="2"/>
          <p:cNvSpPr/>
          <p:nvPr/>
        </p:nvSpPr>
        <p:spPr>
          <a:xfrm flipH="false" flipV="false" rot="1743691">
            <a:off x="12650583" y="5606367"/>
            <a:ext cx="6964299" cy="8229600"/>
          </a:xfrm>
          <a:custGeom>
            <a:avLst/>
            <a:gdLst/>
            <a:ahLst/>
            <a:cxnLst/>
            <a:rect r="r" b="b" t="t" l="l"/>
            <a:pathLst>
              <a:path h="8229600" w="6964299">
                <a:moveTo>
                  <a:pt x="0" y="0"/>
                </a:moveTo>
                <a:lnTo>
                  <a:pt x="6964299" y="0"/>
                </a:lnTo>
                <a:lnTo>
                  <a:pt x="696429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901857" y="-2160536"/>
            <a:ext cx="6151626" cy="8229600"/>
          </a:xfrm>
          <a:custGeom>
            <a:avLst/>
            <a:gdLst/>
            <a:ahLst/>
            <a:cxnLst/>
            <a:rect r="r" b="b" t="t" l="l"/>
            <a:pathLst>
              <a:path h="8229600" w="6151626">
                <a:moveTo>
                  <a:pt x="0" y="0"/>
                </a:moveTo>
                <a:lnTo>
                  <a:pt x="6151626" y="0"/>
                </a:lnTo>
                <a:lnTo>
                  <a:pt x="6151626" y="8229600"/>
                </a:lnTo>
                <a:lnTo>
                  <a:pt x="0" y="8229600"/>
                </a:lnTo>
                <a:lnTo>
                  <a:pt x="0" y="0"/>
                </a:lnTo>
                <a:close/>
              </a:path>
            </a:pathLst>
          </a:custGeom>
          <a:blipFill>
            <a:blip r:embed="rId3"/>
            <a:stretch>
              <a:fillRect l="0" t="0" r="0" b="0"/>
            </a:stretch>
          </a:blipFill>
        </p:spPr>
      </p:sp>
      <p:sp>
        <p:nvSpPr>
          <p:cNvPr name="TextBox 4" id="4"/>
          <p:cNvSpPr txBox="true"/>
          <p:nvPr/>
        </p:nvSpPr>
        <p:spPr>
          <a:xfrm rot="0">
            <a:off x="4579807" y="828084"/>
            <a:ext cx="10108611" cy="676275"/>
          </a:xfrm>
          <a:prstGeom prst="rect">
            <a:avLst/>
          </a:prstGeom>
        </p:spPr>
        <p:txBody>
          <a:bodyPr anchor="t" rtlCol="false" tIns="0" lIns="0" bIns="0" rIns="0">
            <a:spAutoFit/>
          </a:bodyPr>
          <a:lstStyle/>
          <a:p>
            <a:pPr algn="l">
              <a:lnSpc>
                <a:spcPts val="5250"/>
              </a:lnSpc>
            </a:pPr>
            <a:r>
              <a:rPr lang="en-US" sz="4375">
                <a:solidFill>
                  <a:srgbClr val="FFFFFF"/>
                </a:solidFill>
                <a:latin typeface="Linux Biolinum"/>
                <a:ea typeface="Linux Biolinum"/>
                <a:cs typeface="Linux Biolinum"/>
                <a:sym typeface="Linux Biolinum"/>
              </a:rPr>
              <a:t>MÔI TRƯỜNG THỰC HIỆN ĐỀ TÀI</a:t>
            </a:r>
          </a:p>
        </p:txBody>
      </p:sp>
      <p:sp>
        <p:nvSpPr>
          <p:cNvPr name="TextBox 5" id="5"/>
          <p:cNvSpPr txBox="true"/>
          <p:nvPr/>
        </p:nvSpPr>
        <p:spPr>
          <a:xfrm rot="0">
            <a:off x="4197474" y="4282061"/>
            <a:ext cx="8861375" cy="514350"/>
          </a:xfrm>
          <a:prstGeom prst="rect">
            <a:avLst/>
          </a:prstGeom>
        </p:spPr>
        <p:txBody>
          <a:bodyPr anchor="t" rtlCol="false" tIns="0" lIns="0" bIns="0" rIns="0">
            <a:spAutoFit/>
          </a:bodyPr>
          <a:lstStyle/>
          <a:p>
            <a:pPr algn="just">
              <a:lnSpc>
                <a:spcPts val="4200"/>
              </a:lnSpc>
              <a:spcBef>
                <a:spcPct val="0"/>
              </a:spcBef>
            </a:pPr>
            <a:r>
              <a:rPr lang="en-US" b="true" sz="3000">
                <a:solidFill>
                  <a:srgbClr val="FFFFFF"/>
                </a:solidFill>
                <a:latin typeface="Muli Bold"/>
                <a:ea typeface="Muli Bold"/>
                <a:cs typeface="Muli Bold"/>
                <a:sym typeface="Muli Bold"/>
              </a:rPr>
              <a:t>V</a:t>
            </a:r>
            <a:r>
              <a:rPr lang="en-US" b="true" sz="3000">
                <a:solidFill>
                  <a:srgbClr val="FFFFFF"/>
                </a:solidFill>
                <a:latin typeface="Muli Bold"/>
                <a:ea typeface="Muli Bold"/>
                <a:cs typeface="Muli Bold"/>
                <a:sym typeface="Muli Bold"/>
              </a:rPr>
              <a:t>isual Studio (Công cụ phát triển phía back-end)</a:t>
            </a:r>
          </a:p>
        </p:txBody>
      </p:sp>
      <p:sp>
        <p:nvSpPr>
          <p:cNvPr name="TextBox 6" id="6"/>
          <p:cNvSpPr txBox="true"/>
          <p:nvPr/>
        </p:nvSpPr>
        <p:spPr>
          <a:xfrm rot="0">
            <a:off x="4197474" y="3200516"/>
            <a:ext cx="9893052" cy="514350"/>
          </a:xfrm>
          <a:prstGeom prst="rect">
            <a:avLst/>
          </a:prstGeom>
        </p:spPr>
        <p:txBody>
          <a:bodyPr anchor="t" rtlCol="false" tIns="0" lIns="0" bIns="0" rIns="0">
            <a:spAutoFit/>
          </a:bodyPr>
          <a:lstStyle/>
          <a:p>
            <a:pPr algn="just">
              <a:lnSpc>
                <a:spcPts val="4200"/>
              </a:lnSpc>
              <a:spcBef>
                <a:spcPct val="0"/>
              </a:spcBef>
            </a:pPr>
            <a:r>
              <a:rPr lang="en-US" b="true" sz="3000">
                <a:solidFill>
                  <a:srgbClr val="FFFFFF"/>
                </a:solidFill>
                <a:latin typeface="Muli Bold"/>
                <a:ea typeface="Muli Bold"/>
                <a:cs typeface="Muli Bold"/>
                <a:sym typeface="Muli Bold"/>
              </a:rPr>
              <a:t>V</a:t>
            </a:r>
            <a:r>
              <a:rPr lang="en-US" b="true" sz="3000">
                <a:solidFill>
                  <a:srgbClr val="FFFFFF"/>
                </a:solidFill>
                <a:latin typeface="Muli Bold"/>
                <a:ea typeface="Muli Bold"/>
                <a:cs typeface="Muli Bold"/>
                <a:sym typeface="Muli Bold"/>
              </a:rPr>
              <a:t>isual Studio Code (Công cụ phát triển phía back-end)</a:t>
            </a:r>
          </a:p>
        </p:txBody>
      </p:sp>
      <p:sp>
        <p:nvSpPr>
          <p:cNvPr name="TextBox 7" id="7"/>
          <p:cNvSpPr txBox="true"/>
          <p:nvPr/>
        </p:nvSpPr>
        <p:spPr>
          <a:xfrm rot="0">
            <a:off x="4197474" y="5119204"/>
            <a:ext cx="5888831" cy="514350"/>
          </a:xfrm>
          <a:prstGeom prst="rect">
            <a:avLst/>
          </a:prstGeom>
        </p:spPr>
        <p:txBody>
          <a:bodyPr anchor="t" rtlCol="false" tIns="0" lIns="0" bIns="0" rIns="0">
            <a:spAutoFit/>
          </a:bodyPr>
          <a:lstStyle/>
          <a:p>
            <a:pPr algn="just">
              <a:lnSpc>
                <a:spcPts val="4200"/>
              </a:lnSpc>
              <a:spcBef>
                <a:spcPct val="0"/>
              </a:spcBef>
            </a:pPr>
            <a:r>
              <a:rPr lang="en-US" b="true" sz="3000">
                <a:solidFill>
                  <a:srgbClr val="FFFFFF"/>
                </a:solidFill>
                <a:latin typeface="Muli Bold"/>
                <a:ea typeface="Muli Bold"/>
                <a:cs typeface="Muli Bold"/>
                <a:sym typeface="Muli Bold"/>
              </a:rPr>
              <a:t>Postman (Công cụ kiểm thử API)</a:t>
            </a:r>
          </a:p>
        </p:txBody>
      </p:sp>
      <p:sp>
        <p:nvSpPr>
          <p:cNvPr name="TextBox 8" id="8"/>
          <p:cNvSpPr txBox="true"/>
          <p:nvPr/>
        </p:nvSpPr>
        <p:spPr>
          <a:xfrm rot="0">
            <a:off x="4197474" y="5981584"/>
            <a:ext cx="5677270" cy="1047750"/>
          </a:xfrm>
          <a:prstGeom prst="rect">
            <a:avLst/>
          </a:prstGeom>
        </p:spPr>
        <p:txBody>
          <a:bodyPr anchor="t" rtlCol="false" tIns="0" lIns="0" bIns="0" rIns="0">
            <a:spAutoFit/>
          </a:bodyPr>
          <a:lstStyle/>
          <a:p>
            <a:pPr algn="just">
              <a:lnSpc>
                <a:spcPts val="4200"/>
              </a:lnSpc>
              <a:spcBef>
                <a:spcPct val="0"/>
              </a:spcBef>
            </a:pPr>
            <a:r>
              <a:rPr lang="en-US" b="true" sz="3000">
                <a:solidFill>
                  <a:srgbClr val="FFFFFF"/>
                </a:solidFill>
                <a:latin typeface="Muli Bold"/>
                <a:ea typeface="Muli Bold"/>
                <a:cs typeface="Muli Bold"/>
                <a:sym typeface="Muli Bold"/>
              </a:rPr>
              <a:t>DBeaver (Công cụ phát triển database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2A37"/>
        </a:solidFill>
      </p:bgPr>
    </p:bg>
    <p:spTree>
      <p:nvGrpSpPr>
        <p:cNvPr id="1" name=""/>
        <p:cNvGrpSpPr/>
        <p:nvPr/>
      </p:nvGrpSpPr>
      <p:grpSpPr>
        <a:xfrm>
          <a:off x="0" y="0"/>
          <a:ext cx="0" cy="0"/>
          <a:chOff x="0" y="0"/>
          <a:chExt cx="0" cy="0"/>
        </a:xfrm>
      </p:grpSpPr>
      <p:sp>
        <p:nvSpPr>
          <p:cNvPr name="Freeform 2" id="2"/>
          <p:cNvSpPr/>
          <p:nvPr/>
        </p:nvSpPr>
        <p:spPr>
          <a:xfrm flipH="false" flipV="false" rot="0">
            <a:off x="10755028" y="4375676"/>
            <a:ext cx="8825308" cy="8229600"/>
          </a:xfrm>
          <a:custGeom>
            <a:avLst/>
            <a:gdLst/>
            <a:ahLst/>
            <a:cxnLst/>
            <a:rect r="r" b="b" t="t" l="l"/>
            <a:pathLst>
              <a:path h="8229600" w="8825308">
                <a:moveTo>
                  <a:pt x="0" y="0"/>
                </a:moveTo>
                <a:lnTo>
                  <a:pt x="8825308" y="0"/>
                </a:lnTo>
                <a:lnTo>
                  <a:pt x="8825308"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3008142" y="5296576"/>
            <a:ext cx="10535909" cy="11105043"/>
          </a:xfrm>
          <a:custGeom>
            <a:avLst/>
            <a:gdLst/>
            <a:ahLst/>
            <a:cxnLst/>
            <a:rect r="r" b="b" t="t" l="l"/>
            <a:pathLst>
              <a:path h="11105043" w="10535909">
                <a:moveTo>
                  <a:pt x="0" y="0"/>
                </a:moveTo>
                <a:lnTo>
                  <a:pt x="10535909" y="0"/>
                </a:lnTo>
                <a:lnTo>
                  <a:pt x="10535909" y="11105042"/>
                </a:lnTo>
                <a:lnTo>
                  <a:pt x="0" y="11105042"/>
                </a:lnTo>
                <a:lnTo>
                  <a:pt x="0" y="0"/>
                </a:lnTo>
                <a:close/>
              </a:path>
            </a:pathLst>
          </a:custGeom>
          <a:blipFill>
            <a:blip r:embed="rId3"/>
            <a:stretch>
              <a:fillRect l="0" t="0" r="0" b="0"/>
            </a:stretch>
          </a:blipFill>
        </p:spPr>
      </p:sp>
      <p:sp>
        <p:nvSpPr>
          <p:cNvPr name="Freeform 4" id="4"/>
          <p:cNvSpPr/>
          <p:nvPr/>
        </p:nvSpPr>
        <p:spPr>
          <a:xfrm flipH="false" flipV="false" rot="-10303164">
            <a:off x="-843112" y="4566854"/>
            <a:ext cx="8825308" cy="8229600"/>
          </a:xfrm>
          <a:custGeom>
            <a:avLst/>
            <a:gdLst/>
            <a:ahLst/>
            <a:cxnLst/>
            <a:rect r="r" b="b" t="t" l="l"/>
            <a:pathLst>
              <a:path h="8229600" w="8825308">
                <a:moveTo>
                  <a:pt x="0" y="0"/>
                </a:moveTo>
                <a:lnTo>
                  <a:pt x="8825308" y="0"/>
                </a:lnTo>
                <a:lnTo>
                  <a:pt x="8825308" y="8229600"/>
                </a:lnTo>
                <a:lnTo>
                  <a:pt x="0" y="8229600"/>
                </a:lnTo>
                <a:lnTo>
                  <a:pt x="0" y="0"/>
                </a:lnTo>
                <a:close/>
              </a:path>
            </a:pathLst>
          </a:custGeom>
          <a:blipFill>
            <a:blip r:embed="rId2"/>
            <a:stretch>
              <a:fillRect l="0" t="0" r="0" b="0"/>
            </a:stretch>
          </a:blipFill>
        </p:spPr>
      </p:sp>
      <p:grpSp>
        <p:nvGrpSpPr>
          <p:cNvPr name="Group 5" id="5"/>
          <p:cNvGrpSpPr/>
          <p:nvPr/>
        </p:nvGrpSpPr>
        <p:grpSpPr>
          <a:xfrm rot="0">
            <a:off x="2440934" y="2539936"/>
            <a:ext cx="13406133" cy="2142752"/>
            <a:chOff x="0" y="0"/>
            <a:chExt cx="17874844" cy="2857002"/>
          </a:xfrm>
        </p:grpSpPr>
        <p:sp>
          <p:nvSpPr>
            <p:cNvPr name="TextBox 6" id="6"/>
            <p:cNvSpPr txBox="true"/>
            <p:nvPr/>
          </p:nvSpPr>
          <p:spPr>
            <a:xfrm rot="0">
              <a:off x="0" y="-19050"/>
              <a:ext cx="17874844" cy="1962150"/>
            </a:xfrm>
            <a:prstGeom prst="rect">
              <a:avLst/>
            </a:prstGeom>
          </p:spPr>
          <p:txBody>
            <a:bodyPr anchor="t" rtlCol="false" tIns="0" lIns="0" bIns="0" rIns="0">
              <a:spAutoFit/>
            </a:bodyPr>
            <a:lstStyle/>
            <a:p>
              <a:pPr algn="ctr">
                <a:lnSpc>
                  <a:spcPts val="11519"/>
                </a:lnSpc>
              </a:pPr>
              <a:r>
                <a:rPr lang="en-US" sz="9599">
                  <a:solidFill>
                    <a:srgbClr val="FFFFFF"/>
                  </a:solidFill>
                  <a:latin typeface="Linux Biolinum"/>
                  <a:ea typeface="Linux Biolinum"/>
                  <a:cs typeface="Linux Biolinum"/>
                  <a:sym typeface="Linux Biolinum"/>
                </a:rPr>
                <a:t>CHƯƠNG 2</a:t>
              </a:r>
            </a:p>
          </p:txBody>
        </p:sp>
        <p:sp>
          <p:nvSpPr>
            <p:cNvPr name="TextBox 7" id="7"/>
            <p:cNvSpPr txBox="true"/>
            <p:nvPr/>
          </p:nvSpPr>
          <p:spPr>
            <a:xfrm rot="0">
              <a:off x="0" y="2125727"/>
              <a:ext cx="17874844" cy="731309"/>
            </a:xfrm>
            <a:prstGeom prst="rect">
              <a:avLst/>
            </a:prstGeom>
          </p:spPr>
          <p:txBody>
            <a:bodyPr anchor="t" rtlCol="false" tIns="0" lIns="0" bIns="0" rIns="0">
              <a:spAutoFit/>
            </a:bodyPr>
            <a:lstStyle/>
            <a:p>
              <a:pPr algn="ctr">
                <a:lnSpc>
                  <a:spcPts val="4549"/>
                </a:lnSpc>
              </a:pPr>
              <a:r>
                <a:rPr lang="en-US" sz="3499">
                  <a:solidFill>
                    <a:srgbClr val="FFFFFF"/>
                  </a:solidFill>
                  <a:latin typeface="Fahkwang"/>
                  <a:ea typeface="Fahkwang"/>
                  <a:cs typeface="Fahkwang"/>
                  <a:sym typeface="Fahkwang"/>
                </a:rPr>
                <a:t>Phân tích thiết kế hệ thống</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D7692"/>
        </a:solidFill>
      </p:bgPr>
    </p:bg>
    <p:spTree>
      <p:nvGrpSpPr>
        <p:cNvPr id="1" name=""/>
        <p:cNvGrpSpPr/>
        <p:nvPr/>
      </p:nvGrpSpPr>
      <p:grpSpPr>
        <a:xfrm>
          <a:off x="0" y="0"/>
          <a:ext cx="0" cy="0"/>
          <a:chOff x="0" y="0"/>
          <a:chExt cx="0" cy="0"/>
        </a:xfrm>
      </p:grpSpPr>
      <p:grpSp>
        <p:nvGrpSpPr>
          <p:cNvPr name="Group 2" id="2"/>
          <p:cNvGrpSpPr/>
          <p:nvPr/>
        </p:nvGrpSpPr>
        <p:grpSpPr>
          <a:xfrm rot="0">
            <a:off x="7393554" y="1028700"/>
            <a:ext cx="9865746" cy="1879525"/>
            <a:chOff x="0" y="0"/>
            <a:chExt cx="13154328" cy="2506033"/>
          </a:xfrm>
        </p:grpSpPr>
        <p:sp>
          <p:nvSpPr>
            <p:cNvPr name="TextBox 3" id="3"/>
            <p:cNvSpPr txBox="true"/>
            <p:nvPr/>
          </p:nvSpPr>
          <p:spPr>
            <a:xfrm rot="0">
              <a:off x="0" y="-28575"/>
              <a:ext cx="13154328" cy="485351"/>
            </a:xfrm>
            <a:prstGeom prst="rect">
              <a:avLst/>
            </a:prstGeom>
          </p:spPr>
          <p:txBody>
            <a:bodyPr anchor="t" rtlCol="false" tIns="0" lIns="0" bIns="0" rIns="0">
              <a:spAutoFit/>
            </a:bodyPr>
            <a:lstStyle/>
            <a:p>
              <a:pPr algn="l">
                <a:lnSpc>
                  <a:spcPts val="2957"/>
                </a:lnSpc>
              </a:pPr>
              <a:r>
                <a:rPr lang="en-US" sz="2275" b="true">
                  <a:solidFill>
                    <a:srgbClr val="FFFFFF"/>
                  </a:solidFill>
                  <a:latin typeface="Fahkwang Bold"/>
                  <a:ea typeface="Fahkwang Bold"/>
                  <a:cs typeface="Fahkwang Bold"/>
                  <a:sym typeface="Fahkwang Bold"/>
                </a:rPr>
                <a:t>Giới thiệu về cửa hàng</a:t>
              </a:r>
            </a:p>
          </p:txBody>
        </p:sp>
        <p:sp>
          <p:nvSpPr>
            <p:cNvPr name="TextBox 4" id="4"/>
            <p:cNvSpPr txBox="true"/>
            <p:nvPr/>
          </p:nvSpPr>
          <p:spPr>
            <a:xfrm rot="0">
              <a:off x="0" y="965980"/>
              <a:ext cx="13154328" cy="1540510"/>
            </a:xfrm>
            <a:prstGeom prst="rect">
              <a:avLst/>
            </a:prstGeom>
          </p:spPr>
          <p:txBody>
            <a:bodyPr anchor="t" rtlCol="false" tIns="0" lIns="0" bIns="0" rIns="0">
              <a:spAutoFit/>
            </a:bodyPr>
            <a:lstStyle/>
            <a:p>
              <a:pPr algn="l">
                <a:lnSpc>
                  <a:spcPts val="3120"/>
                </a:lnSpc>
              </a:pPr>
              <a:r>
                <a:rPr lang="en-US" sz="2400">
                  <a:solidFill>
                    <a:srgbClr val="FFFFFF"/>
                  </a:solidFill>
                  <a:latin typeface="Fahkwang"/>
                  <a:ea typeface="Fahkwang"/>
                  <a:cs typeface="Fahkwang"/>
                  <a:sym typeface="Fahkwang"/>
                </a:rPr>
                <a:t>THAISTORE là h</a:t>
              </a:r>
              <a:r>
                <a:rPr lang="en-US" sz="2400">
                  <a:solidFill>
                    <a:srgbClr val="FFFFFF"/>
                  </a:solidFill>
                  <a:latin typeface="Fahkwang"/>
                  <a:ea typeface="Fahkwang"/>
                  <a:cs typeface="Fahkwang"/>
                  <a:sym typeface="Fahkwang"/>
                </a:rPr>
                <a:t>ệ thống phân phối điện thoại chính hãng tại Việt Nam, chuyên cung cấp các thương hiệu điện thoại nổi tiếng</a:t>
              </a:r>
            </a:p>
            <a:p>
              <a:pPr algn="l">
                <a:lnSpc>
                  <a:spcPts val="3120"/>
                </a:lnSpc>
              </a:pPr>
            </a:p>
          </p:txBody>
        </p:sp>
      </p:grpSp>
      <p:grpSp>
        <p:nvGrpSpPr>
          <p:cNvPr name="Group 5" id="5"/>
          <p:cNvGrpSpPr/>
          <p:nvPr/>
        </p:nvGrpSpPr>
        <p:grpSpPr>
          <a:xfrm rot="0">
            <a:off x="7393554" y="3571298"/>
            <a:ext cx="9865746" cy="2536271"/>
            <a:chOff x="0" y="0"/>
            <a:chExt cx="13154328" cy="3381695"/>
          </a:xfrm>
        </p:grpSpPr>
        <p:sp>
          <p:nvSpPr>
            <p:cNvPr name="TextBox 6" id="6"/>
            <p:cNvSpPr txBox="true"/>
            <p:nvPr/>
          </p:nvSpPr>
          <p:spPr>
            <a:xfrm rot="0">
              <a:off x="0" y="-19050"/>
              <a:ext cx="13154328" cy="581236"/>
            </a:xfrm>
            <a:prstGeom prst="rect">
              <a:avLst/>
            </a:prstGeom>
          </p:spPr>
          <p:txBody>
            <a:bodyPr anchor="t" rtlCol="false" tIns="0" lIns="0" bIns="0" rIns="0">
              <a:spAutoFit/>
            </a:bodyPr>
            <a:lstStyle/>
            <a:p>
              <a:pPr algn="l">
                <a:lnSpc>
                  <a:spcPts val="3640"/>
                </a:lnSpc>
              </a:pPr>
              <a:r>
                <a:rPr lang="en-US" b="true" sz="2800">
                  <a:solidFill>
                    <a:srgbClr val="FFFFFF"/>
                  </a:solidFill>
                  <a:latin typeface="Fahkwang Bold"/>
                  <a:ea typeface="Fahkwang Bold"/>
                  <a:cs typeface="Fahkwang Bold"/>
                  <a:sym typeface="Fahkwang Bold"/>
                </a:rPr>
                <a:t>Các yêu cầu chức năng</a:t>
              </a:r>
            </a:p>
          </p:txBody>
        </p:sp>
        <p:sp>
          <p:nvSpPr>
            <p:cNvPr name="TextBox 7" id="7"/>
            <p:cNvSpPr txBox="true"/>
            <p:nvPr/>
          </p:nvSpPr>
          <p:spPr>
            <a:xfrm rot="0">
              <a:off x="0" y="800470"/>
              <a:ext cx="13154328" cy="2581910"/>
            </a:xfrm>
            <a:prstGeom prst="rect">
              <a:avLst/>
            </a:prstGeom>
          </p:spPr>
          <p:txBody>
            <a:bodyPr anchor="t" rtlCol="false" tIns="0" lIns="0" bIns="0" rIns="0">
              <a:spAutoFit/>
            </a:bodyPr>
            <a:lstStyle/>
            <a:p>
              <a:pPr algn="l">
                <a:lnSpc>
                  <a:spcPts val="3120"/>
                </a:lnSpc>
              </a:pPr>
              <a:r>
                <a:rPr lang="en-US" sz="2400">
                  <a:solidFill>
                    <a:srgbClr val="FFFFFF"/>
                  </a:solidFill>
                  <a:latin typeface="Fahkwang"/>
                  <a:ea typeface="Fahkwang"/>
                  <a:cs typeface="Fahkwang"/>
                  <a:sym typeface="Fahkwang"/>
                </a:rPr>
                <a:t>Cửa</a:t>
              </a:r>
              <a:r>
                <a:rPr lang="en-US" sz="2400">
                  <a:solidFill>
                    <a:srgbClr val="FFFFFF"/>
                  </a:solidFill>
                  <a:latin typeface="Fahkwang"/>
                  <a:ea typeface="Fahkwang"/>
                  <a:cs typeface="Fahkwang"/>
                  <a:sym typeface="Fahkwang"/>
                </a:rPr>
                <a:t> hàng cho phép admin và nhân viên quản lý các danh mục sản phẩm, thương hiệu, xuất xứ, kho hàng, đơn hàng, nhân viên, nhập xuất khẩu các danh mục.</a:t>
              </a:r>
            </a:p>
            <a:p>
              <a:pPr algn="l">
                <a:lnSpc>
                  <a:spcPts val="3120"/>
                </a:lnSpc>
              </a:pPr>
              <a:r>
                <a:rPr lang="en-US" sz="2400">
                  <a:solidFill>
                    <a:srgbClr val="FFFFFF"/>
                  </a:solidFill>
                  <a:latin typeface="Fahkwang"/>
                  <a:ea typeface="Fahkwang"/>
                  <a:cs typeface="Fahkwang"/>
                  <a:sym typeface="Fahkwang"/>
                </a:rPr>
                <a:t>Cho phép người dùng xem, tìm kiếm, đặt hàng và mua hàng với các mã giảm giá ưu đãi</a:t>
              </a:r>
            </a:p>
          </p:txBody>
        </p:sp>
      </p:grpSp>
      <p:grpSp>
        <p:nvGrpSpPr>
          <p:cNvPr name="Group 8" id="8"/>
          <p:cNvGrpSpPr/>
          <p:nvPr/>
        </p:nvGrpSpPr>
        <p:grpSpPr>
          <a:xfrm rot="0">
            <a:off x="7393554" y="7036426"/>
            <a:ext cx="10087605" cy="3360136"/>
            <a:chOff x="0" y="0"/>
            <a:chExt cx="13450140" cy="4480181"/>
          </a:xfrm>
        </p:grpSpPr>
        <p:sp>
          <p:nvSpPr>
            <p:cNvPr name="TextBox 9" id="9"/>
            <p:cNvSpPr txBox="true"/>
            <p:nvPr/>
          </p:nvSpPr>
          <p:spPr>
            <a:xfrm rot="0">
              <a:off x="0" y="-19050"/>
              <a:ext cx="13450140" cy="581236"/>
            </a:xfrm>
            <a:prstGeom prst="rect">
              <a:avLst/>
            </a:prstGeom>
          </p:spPr>
          <p:txBody>
            <a:bodyPr anchor="t" rtlCol="false" tIns="0" lIns="0" bIns="0" rIns="0">
              <a:spAutoFit/>
            </a:bodyPr>
            <a:lstStyle/>
            <a:p>
              <a:pPr algn="l">
                <a:lnSpc>
                  <a:spcPts val="3640"/>
                </a:lnSpc>
              </a:pPr>
              <a:r>
                <a:rPr lang="en-US" b="true" sz="2800">
                  <a:solidFill>
                    <a:srgbClr val="FFFFFF"/>
                  </a:solidFill>
                  <a:latin typeface="Fahkwang Bold"/>
                  <a:ea typeface="Fahkwang Bold"/>
                  <a:cs typeface="Fahkwang Bold"/>
                  <a:sym typeface="Fahkwang Bold"/>
                </a:rPr>
                <a:t>Các yêu cầu phi chức năng</a:t>
              </a:r>
            </a:p>
          </p:txBody>
        </p:sp>
        <p:sp>
          <p:nvSpPr>
            <p:cNvPr name="TextBox 10" id="10"/>
            <p:cNvSpPr txBox="true"/>
            <p:nvPr/>
          </p:nvSpPr>
          <p:spPr>
            <a:xfrm rot="0">
              <a:off x="0" y="857328"/>
              <a:ext cx="13450140" cy="3623310"/>
            </a:xfrm>
            <a:prstGeom prst="rect">
              <a:avLst/>
            </a:prstGeom>
          </p:spPr>
          <p:txBody>
            <a:bodyPr anchor="t" rtlCol="false" tIns="0" lIns="0" bIns="0" rIns="0">
              <a:spAutoFit/>
            </a:bodyPr>
            <a:lstStyle/>
            <a:p>
              <a:pPr algn="l">
                <a:lnSpc>
                  <a:spcPts val="3120"/>
                </a:lnSpc>
              </a:pPr>
              <a:r>
                <a:rPr lang="en-US" sz="2400">
                  <a:solidFill>
                    <a:srgbClr val="FFFFFF"/>
                  </a:solidFill>
                  <a:latin typeface="Fahkwang"/>
                  <a:ea typeface="Fahkwang"/>
                  <a:cs typeface="Fahkwang"/>
                  <a:sym typeface="Fahkwang"/>
                </a:rPr>
                <a:t>Bộ xử lý 32bit (x86) hoặc 64bit (x64) có tốc độ xử lý từ 2.0 GHz trở lên. RAM 2GB (tối thiểu). Đĩa cứng có dung lượng trống từ 100GB trở lên. Các máy tính được kết nối với nhau qua mạng LAN. Hệ điều hành Windows 7 trở lên, Hệ quản trị cơ sở dữ liệu SQL Server 2014.</a:t>
              </a:r>
            </a:p>
            <a:p>
              <a:pPr algn="l">
                <a:lnSpc>
                  <a:spcPts val="3120"/>
                </a:lnSpc>
              </a:pPr>
            </a:p>
            <a:p>
              <a:pPr algn="l">
                <a:lnSpc>
                  <a:spcPts val="3120"/>
                </a:lnSpc>
              </a:pPr>
            </a:p>
          </p:txBody>
        </p:sp>
      </p:grpSp>
      <p:sp>
        <p:nvSpPr>
          <p:cNvPr name="TextBox 11" id="11"/>
          <p:cNvSpPr txBox="true"/>
          <p:nvPr/>
        </p:nvSpPr>
        <p:spPr>
          <a:xfrm rot="0">
            <a:off x="933450" y="1019175"/>
            <a:ext cx="4024859" cy="1590675"/>
          </a:xfrm>
          <a:prstGeom prst="rect">
            <a:avLst/>
          </a:prstGeom>
        </p:spPr>
        <p:txBody>
          <a:bodyPr anchor="t" rtlCol="false" tIns="0" lIns="0" bIns="0" rIns="0">
            <a:spAutoFit/>
          </a:bodyPr>
          <a:lstStyle/>
          <a:p>
            <a:pPr algn="l">
              <a:lnSpc>
                <a:spcPts val="6239"/>
              </a:lnSpc>
            </a:pPr>
            <a:r>
              <a:rPr lang="en-US" sz="5199">
                <a:solidFill>
                  <a:srgbClr val="FFFFFF"/>
                </a:solidFill>
                <a:latin typeface="Linux Biolinum"/>
                <a:ea typeface="Linux Biolinum"/>
                <a:cs typeface="Linux Biolinum"/>
                <a:sym typeface="Linux Biolinum"/>
              </a:rPr>
              <a:t>KHẢO SÁT HỆ THỐNG</a:t>
            </a:r>
          </a:p>
        </p:txBody>
      </p:sp>
      <p:sp>
        <p:nvSpPr>
          <p:cNvPr name="AutoShape 12" id="12"/>
          <p:cNvSpPr/>
          <p:nvPr/>
        </p:nvSpPr>
        <p:spPr>
          <a:xfrm flipH="true">
            <a:off x="5942146" y="6579057"/>
            <a:ext cx="11317154" cy="0"/>
          </a:xfrm>
          <a:prstGeom prst="line">
            <a:avLst/>
          </a:prstGeom>
          <a:ln cap="rnd" w="9525">
            <a:solidFill>
              <a:srgbClr val="FFFFFF"/>
            </a:solidFill>
            <a:prstDash val="solid"/>
            <a:headEnd type="none" len="sm" w="sm"/>
            <a:tailEnd type="none" len="sm" w="sm"/>
          </a:ln>
        </p:spPr>
      </p:sp>
      <p:sp>
        <p:nvSpPr>
          <p:cNvPr name="AutoShape 13" id="13"/>
          <p:cNvSpPr/>
          <p:nvPr/>
        </p:nvSpPr>
        <p:spPr>
          <a:xfrm flipH="true" flipV="true">
            <a:off x="5942146" y="2903463"/>
            <a:ext cx="11317154" cy="4763"/>
          </a:xfrm>
          <a:prstGeom prst="line">
            <a:avLst/>
          </a:prstGeom>
          <a:ln cap="rnd" w="9525">
            <a:solidFill>
              <a:srgbClr val="FFFFFF"/>
            </a:solidFill>
            <a:prstDash val="solid"/>
            <a:headEnd type="none" len="sm" w="sm"/>
            <a:tailEnd type="none" len="sm" w="sm"/>
          </a:ln>
        </p:spPr>
      </p:sp>
      <p:sp>
        <p:nvSpPr>
          <p:cNvPr name="Freeform 14" id="14"/>
          <p:cNvSpPr/>
          <p:nvPr/>
        </p:nvSpPr>
        <p:spPr>
          <a:xfrm flipH="false" flipV="false" rot="0">
            <a:off x="5829774" y="1028700"/>
            <a:ext cx="979590" cy="632281"/>
          </a:xfrm>
          <a:custGeom>
            <a:avLst/>
            <a:gdLst/>
            <a:ahLst/>
            <a:cxnLst/>
            <a:rect r="r" b="b" t="t" l="l"/>
            <a:pathLst>
              <a:path h="632281" w="979590">
                <a:moveTo>
                  <a:pt x="0" y="0"/>
                </a:moveTo>
                <a:lnTo>
                  <a:pt x="979590" y="0"/>
                </a:lnTo>
                <a:lnTo>
                  <a:pt x="979590" y="632281"/>
                </a:lnTo>
                <a:lnTo>
                  <a:pt x="0" y="6322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6123583" y="3660157"/>
            <a:ext cx="504344" cy="790283"/>
          </a:xfrm>
          <a:custGeom>
            <a:avLst/>
            <a:gdLst/>
            <a:ahLst/>
            <a:cxnLst/>
            <a:rect r="r" b="b" t="t" l="l"/>
            <a:pathLst>
              <a:path h="790283" w="504344">
                <a:moveTo>
                  <a:pt x="0" y="0"/>
                </a:moveTo>
                <a:lnTo>
                  <a:pt x="504344" y="0"/>
                </a:lnTo>
                <a:lnTo>
                  <a:pt x="504344" y="790283"/>
                </a:lnTo>
                <a:lnTo>
                  <a:pt x="0" y="79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5942146" y="7157095"/>
            <a:ext cx="867218" cy="632281"/>
          </a:xfrm>
          <a:custGeom>
            <a:avLst/>
            <a:gdLst/>
            <a:ahLst/>
            <a:cxnLst/>
            <a:rect r="r" b="b" t="t" l="l"/>
            <a:pathLst>
              <a:path h="632281" w="867218">
                <a:moveTo>
                  <a:pt x="0" y="0"/>
                </a:moveTo>
                <a:lnTo>
                  <a:pt x="867218" y="0"/>
                </a:lnTo>
                <a:lnTo>
                  <a:pt x="867218" y="632281"/>
                </a:lnTo>
                <a:lnTo>
                  <a:pt x="0" y="6322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bg>
      <p:bgPr>
        <a:solidFill>
          <a:srgbClr val="3D7692"/>
        </a:solidFill>
      </p:bgPr>
    </p:bg>
    <p:spTree>
      <p:nvGrpSpPr>
        <p:cNvPr id="1" name=""/>
        <p:cNvGrpSpPr/>
        <p:nvPr/>
      </p:nvGrpSpPr>
      <p:grpSpPr>
        <a:xfrm>
          <a:off x="0" y="0"/>
          <a:ext cx="0" cy="0"/>
          <a:chOff x="0" y="0"/>
          <a:chExt cx="0" cy="0"/>
        </a:xfrm>
      </p:grpSpPr>
      <p:sp>
        <p:nvSpPr>
          <p:cNvPr name="TextBox 2" id="2"/>
          <p:cNvSpPr txBox="true"/>
          <p:nvPr/>
        </p:nvSpPr>
        <p:spPr>
          <a:xfrm rot="0">
            <a:off x="4274097" y="912324"/>
            <a:ext cx="9739805" cy="600075"/>
          </a:xfrm>
          <a:prstGeom prst="rect">
            <a:avLst/>
          </a:prstGeom>
        </p:spPr>
        <p:txBody>
          <a:bodyPr anchor="t" rtlCol="false" tIns="0" lIns="0" bIns="0" rIns="0">
            <a:spAutoFit/>
          </a:bodyPr>
          <a:lstStyle/>
          <a:p>
            <a:pPr algn="l">
              <a:lnSpc>
                <a:spcPts val="4799"/>
              </a:lnSpc>
            </a:pPr>
            <a:r>
              <a:rPr lang="en-US" sz="3999" b="true">
                <a:solidFill>
                  <a:srgbClr val="FFFFFF"/>
                </a:solidFill>
                <a:latin typeface="Muli Semi-Bold"/>
                <a:ea typeface="Muli Semi-Bold"/>
                <a:cs typeface="Muli Semi-Bold"/>
                <a:sym typeface="Muli Semi-Bold"/>
              </a:rPr>
              <a:t>Phân tích, mô tả chức năng của website</a:t>
            </a:r>
          </a:p>
        </p:txBody>
      </p:sp>
      <p:grpSp>
        <p:nvGrpSpPr>
          <p:cNvPr name="Group 3" id="3"/>
          <p:cNvGrpSpPr/>
          <p:nvPr/>
        </p:nvGrpSpPr>
        <p:grpSpPr>
          <a:xfrm rot="0">
            <a:off x="7630243" y="4232887"/>
            <a:ext cx="2781610" cy="1233569"/>
            <a:chOff x="0" y="0"/>
            <a:chExt cx="3708813" cy="1644758"/>
          </a:xfrm>
        </p:grpSpPr>
        <p:sp>
          <p:nvSpPr>
            <p:cNvPr name="TextBox 4" id="4"/>
            <p:cNvSpPr txBox="true"/>
            <p:nvPr/>
          </p:nvSpPr>
          <p:spPr>
            <a:xfrm rot="0">
              <a:off x="0" y="0"/>
              <a:ext cx="3708813" cy="609600"/>
            </a:xfrm>
            <a:prstGeom prst="rect">
              <a:avLst/>
            </a:prstGeom>
          </p:spPr>
          <p:txBody>
            <a:bodyPr anchor="t" rtlCol="false" tIns="0" lIns="0" bIns="0" rIns="0">
              <a:spAutoFit/>
            </a:bodyPr>
            <a:lstStyle/>
            <a:p>
              <a:pPr algn="l">
                <a:lnSpc>
                  <a:spcPts val="3600"/>
                </a:lnSpc>
              </a:pPr>
            </a:p>
          </p:txBody>
        </p:sp>
        <p:sp>
          <p:nvSpPr>
            <p:cNvPr name="TextBox 5" id="5"/>
            <p:cNvSpPr txBox="true"/>
            <p:nvPr/>
          </p:nvSpPr>
          <p:spPr>
            <a:xfrm rot="0">
              <a:off x="277923" y="1184806"/>
              <a:ext cx="3152967" cy="4599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Admin</a:t>
              </a:r>
            </a:p>
          </p:txBody>
        </p:sp>
      </p:grpSp>
      <p:grpSp>
        <p:nvGrpSpPr>
          <p:cNvPr name="Group 6" id="6"/>
          <p:cNvGrpSpPr/>
          <p:nvPr/>
        </p:nvGrpSpPr>
        <p:grpSpPr>
          <a:xfrm rot="0">
            <a:off x="7407480" y="4427841"/>
            <a:ext cx="2781610" cy="1412336"/>
            <a:chOff x="0" y="0"/>
            <a:chExt cx="3708813" cy="1883115"/>
          </a:xfrm>
        </p:grpSpPr>
        <p:sp>
          <p:nvSpPr>
            <p:cNvPr name="TextBox 7" id="7"/>
            <p:cNvSpPr txBox="true"/>
            <p:nvPr/>
          </p:nvSpPr>
          <p:spPr>
            <a:xfrm rot="0">
              <a:off x="0" y="0"/>
              <a:ext cx="3708813" cy="609600"/>
            </a:xfrm>
            <a:prstGeom prst="rect">
              <a:avLst/>
            </a:prstGeom>
          </p:spPr>
          <p:txBody>
            <a:bodyPr anchor="t" rtlCol="false" tIns="0" lIns="0" bIns="0" rIns="0">
              <a:spAutoFit/>
            </a:bodyPr>
            <a:lstStyle/>
            <a:p>
              <a:pPr algn="l">
                <a:lnSpc>
                  <a:spcPts val="3600"/>
                </a:lnSpc>
              </a:pPr>
            </a:p>
          </p:txBody>
        </p:sp>
        <p:sp>
          <p:nvSpPr>
            <p:cNvPr name="AutoShape 8" id="8"/>
            <p:cNvSpPr/>
            <p:nvPr/>
          </p:nvSpPr>
          <p:spPr>
            <a:xfrm rot="0">
              <a:off x="0" y="1037254"/>
              <a:ext cx="3708813" cy="845861"/>
            </a:xfrm>
            <a:prstGeom prst="rect">
              <a:avLst/>
            </a:prstGeom>
            <a:solidFill>
              <a:srgbClr val="10B5BF"/>
            </a:solidFill>
          </p:spPr>
        </p:sp>
        <p:sp>
          <p:nvSpPr>
            <p:cNvPr name="TextBox 9" id="9"/>
            <p:cNvSpPr txBox="true"/>
            <p:nvPr/>
          </p:nvSpPr>
          <p:spPr>
            <a:xfrm rot="0">
              <a:off x="277923" y="1184806"/>
              <a:ext cx="3152967" cy="459952"/>
            </a:xfrm>
            <a:prstGeom prst="rect">
              <a:avLst/>
            </a:prstGeom>
          </p:spPr>
          <p:txBody>
            <a:bodyPr anchor="t" rtlCol="false" tIns="0" lIns="0" bIns="0" rIns="0">
              <a:spAutoFit/>
            </a:bodyPr>
            <a:lstStyle/>
            <a:p>
              <a:pPr algn="ctr">
                <a:lnSpc>
                  <a:spcPts val="2904"/>
                </a:lnSpc>
              </a:pPr>
              <a:r>
                <a:rPr lang="en-US" b="true" sz="2075">
                  <a:solidFill>
                    <a:srgbClr val="FFFFFF"/>
                  </a:solidFill>
                  <a:latin typeface="Muli Bold"/>
                  <a:ea typeface="Muli Bold"/>
                  <a:cs typeface="Muli Bold"/>
                  <a:sym typeface="Muli Bold"/>
                </a:rPr>
                <a:t>Admin</a:t>
              </a:r>
            </a:p>
          </p:txBody>
        </p:sp>
      </p:grpSp>
      <p:grpSp>
        <p:nvGrpSpPr>
          <p:cNvPr name="Group 10" id="10"/>
          <p:cNvGrpSpPr/>
          <p:nvPr/>
        </p:nvGrpSpPr>
        <p:grpSpPr>
          <a:xfrm rot="0">
            <a:off x="1097755" y="6189614"/>
            <a:ext cx="3004549" cy="1283943"/>
            <a:chOff x="0" y="0"/>
            <a:chExt cx="791322" cy="338158"/>
          </a:xfrm>
        </p:grpSpPr>
        <p:sp>
          <p:nvSpPr>
            <p:cNvPr name="Freeform 11" id="11"/>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2" id="12"/>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thương hiệu</a:t>
              </a:r>
            </a:p>
          </p:txBody>
        </p:sp>
      </p:grpSp>
      <p:grpSp>
        <p:nvGrpSpPr>
          <p:cNvPr name="Group 13" id="13"/>
          <p:cNvGrpSpPr/>
          <p:nvPr/>
        </p:nvGrpSpPr>
        <p:grpSpPr>
          <a:xfrm rot="0">
            <a:off x="1097755" y="2098144"/>
            <a:ext cx="3004549" cy="1283943"/>
            <a:chOff x="0" y="0"/>
            <a:chExt cx="791322" cy="338158"/>
          </a:xfrm>
        </p:grpSpPr>
        <p:sp>
          <p:nvSpPr>
            <p:cNvPr name="Freeform 14" id="14"/>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5" id="15"/>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nhân viên</a:t>
              </a:r>
            </a:p>
          </p:txBody>
        </p:sp>
      </p:grpSp>
      <p:grpSp>
        <p:nvGrpSpPr>
          <p:cNvPr name="Group 16" id="16"/>
          <p:cNvGrpSpPr/>
          <p:nvPr/>
        </p:nvGrpSpPr>
        <p:grpSpPr>
          <a:xfrm rot="0">
            <a:off x="1097755" y="4220504"/>
            <a:ext cx="3004549" cy="1283943"/>
            <a:chOff x="0" y="0"/>
            <a:chExt cx="791322" cy="338158"/>
          </a:xfrm>
        </p:grpSpPr>
        <p:sp>
          <p:nvSpPr>
            <p:cNvPr name="Freeform 17" id="17"/>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8" id="18"/>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sản phẩm</a:t>
              </a:r>
            </a:p>
          </p:txBody>
        </p:sp>
      </p:grpSp>
      <p:grpSp>
        <p:nvGrpSpPr>
          <p:cNvPr name="Group 19" id="19"/>
          <p:cNvGrpSpPr/>
          <p:nvPr/>
        </p:nvGrpSpPr>
        <p:grpSpPr>
          <a:xfrm rot="0">
            <a:off x="13257036" y="2098144"/>
            <a:ext cx="3004549" cy="1283943"/>
            <a:chOff x="0" y="0"/>
            <a:chExt cx="791322" cy="338158"/>
          </a:xfrm>
        </p:grpSpPr>
        <p:sp>
          <p:nvSpPr>
            <p:cNvPr name="Freeform 20" id="20"/>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1" id="21"/>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kho</a:t>
              </a:r>
            </a:p>
          </p:txBody>
        </p:sp>
      </p:grpSp>
      <p:grpSp>
        <p:nvGrpSpPr>
          <p:cNvPr name="Group 22" id="22"/>
          <p:cNvGrpSpPr/>
          <p:nvPr/>
        </p:nvGrpSpPr>
        <p:grpSpPr>
          <a:xfrm rot="0">
            <a:off x="13257036" y="4220504"/>
            <a:ext cx="3004549" cy="1283943"/>
            <a:chOff x="0" y="0"/>
            <a:chExt cx="791322" cy="338158"/>
          </a:xfrm>
        </p:grpSpPr>
        <p:sp>
          <p:nvSpPr>
            <p:cNvPr name="Freeform 23" id="23"/>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4" id="24"/>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Duyệt phiếu nhập</a:t>
              </a:r>
            </a:p>
          </p:txBody>
        </p:sp>
      </p:grpSp>
      <p:grpSp>
        <p:nvGrpSpPr>
          <p:cNvPr name="Group 25" id="25"/>
          <p:cNvGrpSpPr/>
          <p:nvPr/>
        </p:nvGrpSpPr>
        <p:grpSpPr>
          <a:xfrm rot="0">
            <a:off x="13257036" y="6189614"/>
            <a:ext cx="3004549" cy="1283943"/>
            <a:chOff x="0" y="0"/>
            <a:chExt cx="791322" cy="338158"/>
          </a:xfrm>
        </p:grpSpPr>
        <p:sp>
          <p:nvSpPr>
            <p:cNvPr name="Freeform 26" id="26"/>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7" id="27"/>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đơn hàng</a:t>
              </a:r>
            </a:p>
          </p:txBody>
        </p:sp>
      </p:grpSp>
      <p:grpSp>
        <p:nvGrpSpPr>
          <p:cNvPr name="Group 28" id="28"/>
          <p:cNvGrpSpPr/>
          <p:nvPr/>
        </p:nvGrpSpPr>
        <p:grpSpPr>
          <a:xfrm rot="0">
            <a:off x="1097755" y="8159357"/>
            <a:ext cx="3004549" cy="1283943"/>
            <a:chOff x="0" y="0"/>
            <a:chExt cx="791322" cy="338158"/>
          </a:xfrm>
        </p:grpSpPr>
        <p:sp>
          <p:nvSpPr>
            <p:cNvPr name="Freeform 29" id="29"/>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30" id="30"/>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xuất xứ</a:t>
              </a:r>
            </a:p>
          </p:txBody>
        </p:sp>
      </p:grpSp>
      <p:grpSp>
        <p:nvGrpSpPr>
          <p:cNvPr name="Group 31" id="31"/>
          <p:cNvGrpSpPr/>
          <p:nvPr/>
        </p:nvGrpSpPr>
        <p:grpSpPr>
          <a:xfrm rot="0">
            <a:off x="13257036" y="8159357"/>
            <a:ext cx="3004549" cy="1283943"/>
            <a:chOff x="0" y="0"/>
            <a:chExt cx="791322" cy="338158"/>
          </a:xfrm>
        </p:grpSpPr>
        <p:sp>
          <p:nvSpPr>
            <p:cNvPr name="Freeform 32" id="32"/>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33" id="33"/>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Sự kiện giảm giá</a:t>
              </a:r>
            </a:p>
          </p:txBody>
        </p:sp>
      </p:grpSp>
      <p:sp>
        <p:nvSpPr>
          <p:cNvPr name="AutoShape 34" id="34"/>
          <p:cNvSpPr/>
          <p:nvPr/>
        </p:nvSpPr>
        <p:spPr>
          <a:xfrm>
            <a:off x="4468562" y="3517660"/>
            <a:ext cx="2938917" cy="1986787"/>
          </a:xfrm>
          <a:prstGeom prst="line">
            <a:avLst/>
          </a:prstGeom>
          <a:ln cap="flat" w="38100">
            <a:solidFill>
              <a:srgbClr val="FFFFFF"/>
            </a:solidFill>
            <a:prstDash val="solid"/>
            <a:headEnd type="none" len="sm" w="sm"/>
            <a:tailEnd type="none" len="sm" w="sm"/>
          </a:ln>
        </p:spPr>
      </p:sp>
      <p:sp>
        <p:nvSpPr>
          <p:cNvPr name="AutoShape 35" id="35"/>
          <p:cNvSpPr/>
          <p:nvPr/>
        </p:nvSpPr>
        <p:spPr>
          <a:xfrm>
            <a:off x="4468562" y="5102007"/>
            <a:ext cx="2970766" cy="402440"/>
          </a:xfrm>
          <a:prstGeom prst="line">
            <a:avLst/>
          </a:prstGeom>
          <a:ln cap="flat" w="38100">
            <a:solidFill>
              <a:srgbClr val="FFFFFF"/>
            </a:solidFill>
            <a:prstDash val="solid"/>
            <a:headEnd type="none" len="sm" w="sm"/>
            <a:tailEnd type="none" len="sm" w="sm"/>
          </a:ln>
        </p:spPr>
      </p:sp>
      <p:sp>
        <p:nvSpPr>
          <p:cNvPr name="AutoShape 36" id="36"/>
          <p:cNvSpPr/>
          <p:nvPr/>
        </p:nvSpPr>
        <p:spPr>
          <a:xfrm flipV="true">
            <a:off x="4468562" y="5535887"/>
            <a:ext cx="2938917" cy="1254205"/>
          </a:xfrm>
          <a:prstGeom prst="line">
            <a:avLst/>
          </a:prstGeom>
          <a:ln cap="flat" w="38100">
            <a:solidFill>
              <a:srgbClr val="FFFFFF"/>
            </a:solidFill>
            <a:prstDash val="solid"/>
            <a:headEnd type="none" len="sm" w="sm"/>
            <a:tailEnd type="none" len="sm" w="sm"/>
          </a:ln>
        </p:spPr>
      </p:sp>
      <p:sp>
        <p:nvSpPr>
          <p:cNvPr name="AutoShape 37" id="37"/>
          <p:cNvSpPr/>
          <p:nvPr/>
        </p:nvSpPr>
        <p:spPr>
          <a:xfrm flipV="true">
            <a:off x="4468562" y="5535887"/>
            <a:ext cx="2938917" cy="3223948"/>
          </a:xfrm>
          <a:prstGeom prst="line">
            <a:avLst/>
          </a:prstGeom>
          <a:ln cap="flat" w="38100">
            <a:solidFill>
              <a:srgbClr val="FFFFFF"/>
            </a:solidFill>
            <a:prstDash val="solid"/>
            <a:headEnd type="none" len="sm" w="sm"/>
            <a:tailEnd type="none" len="sm" w="sm"/>
          </a:ln>
        </p:spPr>
      </p:sp>
      <p:sp>
        <p:nvSpPr>
          <p:cNvPr name="AutoShape 38" id="38"/>
          <p:cNvSpPr/>
          <p:nvPr/>
        </p:nvSpPr>
        <p:spPr>
          <a:xfrm flipV="true">
            <a:off x="10189090" y="2772118"/>
            <a:ext cx="2383063" cy="2649763"/>
          </a:xfrm>
          <a:prstGeom prst="line">
            <a:avLst/>
          </a:prstGeom>
          <a:ln cap="flat" w="38100">
            <a:solidFill>
              <a:srgbClr val="FFFFFF"/>
            </a:solidFill>
            <a:prstDash val="solid"/>
            <a:headEnd type="none" len="sm" w="sm"/>
            <a:tailEnd type="none" len="sm" w="sm"/>
          </a:ln>
        </p:spPr>
      </p:sp>
      <p:sp>
        <p:nvSpPr>
          <p:cNvPr name="AutoShape 39" id="39"/>
          <p:cNvSpPr/>
          <p:nvPr/>
        </p:nvSpPr>
        <p:spPr>
          <a:xfrm flipV="true">
            <a:off x="10157241" y="4894478"/>
            <a:ext cx="2414911" cy="609969"/>
          </a:xfrm>
          <a:prstGeom prst="line">
            <a:avLst/>
          </a:prstGeom>
          <a:ln cap="flat" w="38100">
            <a:solidFill>
              <a:srgbClr val="FFFFFF"/>
            </a:solidFill>
            <a:prstDash val="solid"/>
            <a:headEnd type="none" len="sm" w="sm"/>
            <a:tailEnd type="none" len="sm" w="sm"/>
          </a:ln>
        </p:spPr>
      </p:sp>
      <p:sp>
        <p:nvSpPr>
          <p:cNvPr name="AutoShape 40" id="40"/>
          <p:cNvSpPr/>
          <p:nvPr/>
        </p:nvSpPr>
        <p:spPr>
          <a:xfrm>
            <a:off x="10189090" y="5562001"/>
            <a:ext cx="2383063" cy="949908"/>
          </a:xfrm>
          <a:prstGeom prst="line">
            <a:avLst/>
          </a:prstGeom>
          <a:ln cap="flat" w="38100">
            <a:solidFill>
              <a:srgbClr val="FFFFFF"/>
            </a:solidFill>
            <a:prstDash val="solid"/>
            <a:headEnd type="none" len="sm" w="sm"/>
            <a:tailEnd type="none" len="sm" w="sm"/>
          </a:ln>
        </p:spPr>
      </p:sp>
      <p:sp>
        <p:nvSpPr>
          <p:cNvPr name="AutoShape 41" id="41"/>
          <p:cNvSpPr/>
          <p:nvPr/>
        </p:nvSpPr>
        <p:spPr>
          <a:xfrm>
            <a:off x="10189090" y="5584068"/>
            <a:ext cx="2383063" cy="3249262"/>
          </a:xfrm>
          <a:prstGeom prst="line">
            <a:avLst/>
          </a:prstGeom>
          <a:ln cap="flat" w="38100">
            <a:solidFill>
              <a:srgbClr val="FFFFFF"/>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3D7692"/>
        </a:solidFill>
      </p:bgPr>
    </p:bg>
    <p:spTree>
      <p:nvGrpSpPr>
        <p:cNvPr id="1" name=""/>
        <p:cNvGrpSpPr/>
        <p:nvPr/>
      </p:nvGrpSpPr>
      <p:grpSpPr>
        <a:xfrm>
          <a:off x="0" y="0"/>
          <a:ext cx="0" cy="0"/>
          <a:chOff x="0" y="0"/>
          <a:chExt cx="0" cy="0"/>
        </a:xfrm>
      </p:grpSpPr>
      <p:sp>
        <p:nvSpPr>
          <p:cNvPr name="TextBox 2" id="2"/>
          <p:cNvSpPr txBox="true"/>
          <p:nvPr/>
        </p:nvSpPr>
        <p:spPr>
          <a:xfrm rot="0">
            <a:off x="4274097" y="912324"/>
            <a:ext cx="9739805" cy="600075"/>
          </a:xfrm>
          <a:prstGeom prst="rect">
            <a:avLst/>
          </a:prstGeom>
        </p:spPr>
        <p:txBody>
          <a:bodyPr anchor="t" rtlCol="false" tIns="0" lIns="0" bIns="0" rIns="0">
            <a:spAutoFit/>
          </a:bodyPr>
          <a:lstStyle/>
          <a:p>
            <a:pPr algn="l">
              <a:lnSpc>
                <a:spcPts val="4799"/>
              </a:lnSpc>
            </a:pPr>
            <a:r>
              <a:rPr lang="en-US" sz="3999" b="true">
                <a:solidFill>
                  <a:srgbClr val="FFFFFF"/>
                </a:solidFill>
                <a:latin typeface="Muli Semi-Bold"/>
                <a:ea typeface="Muli Semi-Bold"/>
                <a:cs typeface="Muli Semi-Bold"/>
                <a:sym typeface="Muli Semi-Bold"/>
              </a:rPr>
              <a:t>Phân tích, mô tả chức năng của website</a:t>
            </a:r>
          </a:p>
        </p:txBody>
      </p:sp>
      <p:grpSp>
        <p:nvGrpSpPr>
          <p:cNvPr name="Group 3" id="3"/>
          <p:cNvGrpSpPr/>
          <p:nvPr/>
        </p:nvGrpSpPr>
        <p:grpSpPr>
          <a:xfrm rot="0">
            <a:off x="7646167" y="4356430"/>
            <a:ext cx="2781610" cy="1233569"/>
            <a:chOff x="0" y="0"/>
            <a:chExt cx="3708813" cy="1644758"/>
          </a:xfrm>
        </p:grpSpPr>
        <p:sp>
          <p:nvSpPr>
            <p:cNvPr name="TextBox 4" id="4"/>
            <p:cNvSpPr txBox="true"/>
            <p:nvPr/>
          </p:nvSpPr>
          <p:spPr>
            <a:xfrm rot="0">
              <a:off x="0" y="0"/>
              <a:ext cx="3708813" cy="609600"/>
            </a:xfrm>
            <a:prstGeom prst="rect">
              <a:avLst/>
            </a:prstGeom>
          </p:spPr>
          <p:txBody>
            <a:bodyPr anchor="t" rtlCol="false" tIns="0" lIns="0" bIns="0" rIns="0">
              <a:spAutoFit/>
            </a:bodyPr>
            <a:lstStyle/>
            <a:p>
              <a:pPr algn="l">
                <a:lnSpc>
                  <a:spcPts val="3600"/>
                </a:lnSpc>
              </a:pPr>
            </a:p>
          </p:txBody>
        </p:sp>
        <p:sp>
          <p:nvSpPr>
            <p:cNvPr name="TextBox 5" id="5"/>
            <p:cNvSpPr txBox="true"/>
            <p:nvPr/>
          </p:nvSpPr>
          <p:spPr>
            <a:xfrm rot="0">
              <a:off x="277923" y="1184806"/>
              <a:ext cx="3152967" cy="4599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Nhân viên</a:t>
              </a:r>
            </a:p>
          </p:txBody>
        </p:sp>
      </p:grpSp>
      <p:grpSp>
        <p:nvGrpSpPr>
          <p:cNvPr name="Group 6" id="6"/>
          <p:cNvGrpSpPr/>
          <p:nvPr/>
        </p:nvGrpSpPr>
        <p:grpSpPr>
          <a:xfrm rot="0">
            <a:off x="7407480" y="4437332"/>
            <a:ext cx="2781610" cy="1412336"/>
            <a:chOff x="0" y="0"/>
            <a:chExt cx="3708813" cy="1883115"/>
          </a:xfrm>
        </p:grpSpPr>
        <p:sp>
          <p:nvSpPr>
            <p:cNvPr name="TextBox 7" id="7"/>
            <p:cNvSpPr txBox="true"/>
            <p:nvPr/>
          </p:nvSpPr>
          <p:spPr>
            <a:xfrm rot="0">
              <a:off x="0" y="0"/>
              <a:ext cx="3708813" cy="609600"/>
            </a:xfrm>
            <a:prstGeom prst="rect">
              <a:avLst/>
            </a:prstGeom>
          </p:spPr>
          <p:txBody>
            <a:bodyPr anchor="t" rtlCol="false" tIns="0" lIns="0" bIns="0" rIns="0">
              <a:spAutoFit/>
            </a:bodyPr>
            <a:lstStyle/>
            <a:p>
              <a:pPr algn="l">
                <a:lnSpc>
                  <a:spcPts val="3600"/>
                </a:lnSpc>
              </a:pPr>
            </a:p>
          </p:txBody>
        </p:sp>
        <p:sp>
          <p:nvSpPr>
            <p:cNvPr name="AutoShape 8" id="8"/>
            <p:cNvSpPr/>
            <p:nvPr/>
          </p:nvSpPr>
          <p:spPr>
            <a:xfrm rot="0">
              <a:off x="0" y="1037254"/>
              <a:ext cx="3708813" cy="845861"/>
            </a:xfrm>
            <a:prstGeom prst="rect">
              <a:avLst/>
            </a:prstGeom>
            <a:solidFill>
              <a:srgbClr val="10B5BF"/>
            </a:solidFill>
          </p:spPr>
        </p:sp>
        <p:sp>
          <p:nvSpPr>
            <p:cNvPr name="TextBox 9" id="9"/>
            <p:cNvSpPr txBox="true"/>
            <p:nvPr/>
          </p:nvSpPr>
          <p:spPr>
            <a:xfrm rot="0">
              <a:off x="277923" y="1184806"/>
              <a:ext cx="3152967" cy="459952"/>
            </a:xfrm>
            <a:prstGeom prst="rect">
              <a:avLst/>
            </a:prstGeom>
          </p:spPr>
          <p:txBody>
            <a:bodyPr anchor="t" rtlCol="false" tIns="0" lIns="0" bIns="0" rIns="0">
              <a:spAutoFit/>
            </a:bodyPr>
            <a:lstStyle/>
            <a:p>
              <a:pPr algn="ctr">
                <a:lnSpc>
                  <a:spcPts val="2904"/>
                </a:lnSpc>
              </a:pPr>
              <a:r>
                <a:rPr lang="en-US" b="true" sz="2075">
                  <a:solidFill>
                    <a:srgbClr val="FFFFFF"/>
                  </a:solidFill>
                  <a:latin typeface="Muli Bold"/>
                  <a:ea typeface="Muli Bold"/>
                  <a:cs typeface="Muli Bold"/>
                  <a:sym typeface="Muli Bold"/>
                </a:rPr>
                <a:t>Nhân viên</a:t>
              </a:r>
            </a:p>
          </p:txBody>
        </p:sp>
      </p:grpSp>
      <p:grpSp>
        <p:nvGrpSpPr>
          <p:cNvPr name="Group 10" id="10"/>
          <p:cNvGrpSpPr/>
          <p:nvPr/>
        </p:nvGrpSpPr>
        <p:grpSpPr>
          <a:xfrm rot="0">
            <a:off x="1097755" y="6744991"/>
            <a:ext cx="3004549" cy="1283943"/>
            <a:chOff x="0" y="0"/>
            <a:chExt cx="791322" cy="338158"/>
          </a:xfrm>
        </p:grpSpPr>
        <p:sp>
          <p:nvSpPr>
            <p:cNvPr name="Freeform 11" id="11"/>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2" id="12"/>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xuất xứ</a:t>
              </a:r>
            </a:p>
          </p:txBody>
        </p:sp>
      </p:grpSp>
      <p:grpSp>
        <p:nvGrpSpPr>
          <p:cNvPr name="Group 13" id="13"/>
          <p:cNvGrpSpPr/>
          <p:nvPr/>
        </p:nvGrpSpPr>
        <p:grpSpPr>
          <a:xfrm rot="0">
            <a:off x="1097755" y="2653521"/>
            <a:ext cx="3004549" cy="1283943"/>
            <a:chOff x="0" y="0"/>
            <a:chExt cx="791322" cy="338158"/>
          </a:xfrm>
        </p:grpSpPr>
        <p:sp>
          <p:nvSpPr>
            <p:cNvPr name="Freeform 14" id="14"/>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5" id="15"/>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sản phẩm</a:t>
              </a:r>
            </a:p>
          </p:txBody>
        </p:sp>
      </p:grpSp>
      <p:grpSp>
        <p:nvGrpSpPr>
          <p:cNvPr name="Group 16" id="16"/>
          <p:cNvGrpSpPr/>
          <p:nvPr/>
        </p:nvGrpSpPr>
        <p:grpSpPr>
          <a:xfrm rot="0">
            <a:off x="1097755" y="4775881"/>
            <a:ext cx="3004549" cy="1283943"/>
            <a:chOff x="0" y="0"/>
            <a:chExt cx="791322" cy="338158"/>
          </a:xfrm>
        </p:grpSpPr>
        <p:sp>
          <p:nvSpPr>
            <p:cNvPr name="Freeform 17" id="17"/>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8" id="18"/>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thương hiệu</a:t>
              </a:r>
            </a:p>
          </p:txBody>
        </p:sp>
      </p:grpSp>
      <p:grpSp>
        <p:nvGrpSpPr>
          <p:cNvPr name="Group 19" id="19"/>
          <p:cNvGrpSpPr/>
          <p:nvPr/>
        </p:nvGrpSpPr>
        <p:grpSpPr>
          <a:xfrm rot="0">
            <a:off x="13257036" y="2653521"/>
            <a:ext cx="3004549" cy="1283943"/>
            <a:chOff x="0" y="0"/>
            <a:chExt cx="791322" cy="338158"/>
          </a:xfrm>
        </p:grpSpPr>
        <p:sp>
          <p:nvSpPr>
            <p:cNvPr name="Freeform 20" id="20"/>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1" id="21"/>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kho</a:t>
              </a:r>
            </a:p>
          </p:txBody>
        </p:sp>
      </p:grpSp>
      <p:grpSp>
        <p:nvGrpSpPr>
          <p:cNvPr name="Group 22" id="22"/>
          <p:cNvGrpSpPr/>
          <p:nvPr/>
        </p:nvGrpSpPr>
        <p:grpSpPr>
          <a:xfrm rot="0">
            <a:off x="13257036" y="4775881"/>
            <a:ext cx="3004549" cy="1283943"/>
            <a:chOff x="0" y="0"/>
            <a:chExt cx="791322" cy="338158"/>
          </a:xfrm>
        </p:grpSpPr>
        <p:sp>
          <p:nvSpPr>
            <p:cNvPr name="Freeform 23" id="23"/>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4" id="24"/>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Nhập kho</a:t>
              </a:r>
            </a:p>
          </p:txBody>
        </p:sp>
      </p:grpSp>
      <p:grpSp>
        <p:nvGrpSpPr>
          <p:cNvPr name="Group 25" id="25"/>
          <p:cNvGrpSpPr/>
          <p:nvPr/>
        </p:nvGrpSpPr>
        <p:grpSpPr>
          <a:xfrm rot="0">
            <a:off x="13257036" y="6744991"/>
            <a:ext cx="3004549" cy="1283943"/>
            <a:chOff x="0" y="0"/>
            <a:chExt cx="791322" cy="338158"/>
          </a:xfrm>
        </p:grpSpPr>
        <p:sp>
          <p:nvSpPr>
            <p:cNvPr name="Freeform 26" id="26"/>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7" id="27"/>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Quản lý đơn hàng</a:t>
              </a:r>
            </a:p>
          </p:txBody>
        </p:sp>
      </p:grpSp>
      <p:sp>
        <p:nvSpPr>
          <p:cNvPr name="AutoShape 28" id="28"/>
          <p:cNvSpPr/>
          <p:nvPr/>
        </p:nvSpPr>
        <p:spPr>
          <a:xfrm>
            <a:off x="4468562" y="3428887"/>
            <a:ext cx="2902241" cy="2050621"/>
          </a:xfrm>
          <a:prstGeom prst="line">
            <a:avLst/>
          </a:prstGeom>
          <a:ln cap="flat" w="38100">
            <a:solidFill>
              <a:srgbClr val="FFFFFF"/>
            </a:solidFill>
            <a:prstDash val="solid"/>
            <a:headEnd type="none" len="sm" w="sm"/>
            <a:tailEnd type="none" len="sm" w="sm"/>
          </a:ln>
        </p:spPr>
      </p:sp>
      <p:sp>
        <p:nvSpPr>
          <p:cNvPr name="AutoShape 29" id="29"/>
          <p:cNvSpPr/>
          <p:nvPr/>
        </p:nvSpPr>
        <p:spPr>
          <a:xfrm>
            <a:off x="4468562" y="5303511"/>
            <a:ext cx="2938917" cy="198064"/>
          </a:xfrm>
          <a:prstGeom prst="line">
            <a:avLst/>
          </a:prstGeom>
          <a:ln cap="flat" w="38100">
            <a:solidFill>
              <a:srgbClr val="FFFFFF"/>
            </a:solidFill>
            <a:prstDash val="solid"/>
            <a:headEnd type="none" len="sm" w="sm"/>
            <a:tailEnd type="none" len="sm" w="sm"/>
          </a:ln>
        </p:spPr>
      </p:sp>
      <p:sp>
        <p:nvSpPr>
          <p:cNvPr name="AutoShape 30" id="30"/>
          <p:cNvSpPr/>
          <p:nvPr/>
        </p:nvSpPr>
        <p:spPr>
          <a:xfrm flipV="true">
            <a:off x="4468562" y="5526581"/>
            <a:ext cx="2959096" cy="1746040"/>
          </a:xfrm>
          <a:prstGeom prst="line">
            <a:avLst/>
          </a:prstGeom>
          <a:ln cap="flat" w="38100">
            <a:solidFill>
              <a:srgbClr val="FFFFFF"/>
            </a:solidFill>
            <a:prstDash val="solid"/>
            <a:headEnd type="none" len="sm" w="sm"/>
            <a:tailEnd type="none" len="sm" w="sm"/>
          </a:ln>
        </p:spPr>
      </p:sp>
      <p:sp>
        <p:nvSpPr>
          <p:cNvPr name="AutoShape 31" id="31"/>
          <p:cNvSpPr/>
          <p:nvPr/>
        </p:nvSpPr>
        <p:spPr>
          <a:xfrm flipV="true">
            <a:off x="10221955" y="3656242"/>
            <a:ext cx="2350197" cy="1808521"/>
          </a:xfrm>
          <a:prstGeom prst="line">
            <a:avLst/>
          </a:prstGeom>
          <a:ln cap="flat" w="38100">
            <a:solidFill>
              <a:srgbClr val="FFFFFF"/>
            </a:solidFill>
            <a:prstDash val="solid"/>
            <a:headEnd type="none" len="sm" w="sm"/>
            <a:tailEnd type="none" len="sm" w="sm"/>
          </a:ln>
        </p:spPr>
      </p:sp>
      <p:sp>
        <p:nvSpPr>
          <p:cNvPr name="AutoShape 32" id="32"/>
          <p:cNvSpPr/>
          <p:nvPr/>
        </p:nvSpPr>
        <p:spPr>
          <a:xfrm flipV="true">
            <a:off x="10189090" y="5464763"/>
            <a:ext cx="2383063" cy="53604"/>
          </a:xfrm>
          <a:prstGeom prst="line">
            <a:avLst/>
          </a:prstGeom>
          <a:ln cap="flat" w="38100">
            <a:solidFill>
              <a:srgbClr val="FFFFFF"/>
            </a:solidFill>
            <a:prstDash val="solid"/>
            <a:headEnd type="none" len="sm" w="sm"/>
            <a:tailEnd type="none" len="sm" w="sm"/>
          </a:ln>
        </p:spPr>
      </p:sp>
      <p:sp>
        <p:nvSpPr>
          <p:cNvPr name="AutoShape 33" id="33"/>
          <p:cNvSpPr/>
          <p:nvPr/>
        </p:nvSpPr>
        <p:spPr>
          <a:xfrm>
            <a:off x="10189090" y="5518367"/>
            <a:ext cx="2383063" cy="1679674"/>
          </a:xfrm>
          <a:prstGeom prst="line">
            <a:avLst/>
          </a:prstGeom>
          <a:ln cap="flat" w="38100">
            <a:solidFill>
              <a:srgbClr val="FFFFFF"/>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3D7692"/>
        </a:solidFill>
      </p:bgPr>
    </p:bg>
    <p:spTree>
      <p:nvGrpSpPr>
        <p:cNvPr id="1" name=""/>
        <p:cNvGrpSpPr/>
        <p:nvPr/>
      </p:nvGrpSpPr>
      <p:grpSpPr>
        <a:xfrm>
          <a:off x="0" y="0"/>
          <a:ext cx="0" cy="0"/>
          <a:chOff x="0" y="0"/>
          <a:chExt cx="0" cy="0"/>
        </a:xfrm>
      </p:grpSpPr>
      <p:sp>
        <p:nvSpPr>
          <p:cNvPr name="TextBox 2" id="2"/>
          <p:cNvSpPr txBox="true"/>
          <p:nvPr/>
        </p:nvSpPr>
        <p:spPr>
          <a:xfrm rot="0">
            <a:off x="996852" y="2424921"/>
            <a:ext cx="2940852" cy="457200"/>
          </a:xfrm>
          <a:prstGeom prst="rect">
            <a:avLst/>
          </a:prstGeom>
        </p:spPr>
        <p:txBody>
          <a:bodyPr anchor="t" rtlCol="false" tIns="0" lIns="0" bIns="0" rIns="0">
            <a:spAutoFit/>
          </a:bodyPr>
          <a:lstStyle/>
          <a:p>
            <a:pPr algn="l">
              <a:lnSpc>
                <a:spcPts val="3600"/>
              </a:lnSpc>
            </a:pPr>
          </a:p>
        </p:txBody>
      </p:sp>
      <p:grpSp>
        <p:nvGrpSpPr>
          <p:cNvPr name="Group 3" id="3"/>
          <p:cNvGrpSpPr/>
          <p:nvPr/>
        </p:nvGrpSpPr>
        <p:grpSpPr>
          <a:xfrm rot="0">
            <a:off x="996852" y="6152596"/>
            <a:ext cx="2813458" cy="2018192"/>
            <a:chOff x="0" y="0"/>
            <a:chExt cx="3751278" cy="2690923"/>
          </a:xfrm>
        </p:grpSpPr>
        <p:sp>
          <p:nvSpPr>
            <p:cNvPr name="TextBox 4" id="4"/>
            <p:cNvSpPr txBox="true"/>
            <p:nvPr/>
          </p:nvSpPr>
          <p:spPr>
            <a:xfrm rot="0">
              <a:off x="0" y="0"/>
              <a:ext cx="3751278" cy="609600"/>
            </a:xfrm>
            <a:prstGeom prst="rect">
              <a:avLst/>
            </a:prstGeom>
          </p:spPr>
          <p:txBody>
            <a:bodyPr anchor="t" rtlCol="false" tIns="0" lIns="0" bIns="0" rIns="0">
              <a:spAutoFit/>
            </a:bodyPr>
            <a:lstStyle/>
            <a:p>
              <a:pPr algn="l">
                <a:lnSpc>
                  <a:spcPts val="3600"/>
                </a:lnSpc>
              </a:pPr>
            </a:p>
          </p:txBody>
        </p:sp>
        <p:sp>
          <p:nvSpPr>
            <p:cNvPr name="TextBox 5" id="5"/>
            <p:cNvSpPr txBox="true"/>
            <p:nvPr/>
          </p:nvSpPr>
          <p:spPr>
            <a:xfrm rot="0">
              <a:off x="0" y="2272669"/>
              <a:ext cx="3751278" cy="418253"/>
            </a:xfrm>
            <a:prstGeom prst="rect">
              <a:avLst/>
            </a:prstGeom>
          </p:spPr>
          <p:txBody>
            <a:bodyPr anchor="t" rtlCol="false" tIns="0" lIns="0" bIns="0" rIns="0">
              <a:spAutoFit/>
            </a:bodyPr>
            <a:lstStyle/>
            <a:p>
              <a:pPr algn="l">
                <a:lnSpc>
                  <a:spcPts val="2660"/>
                </a:lnSpc>
              </a:pPr>
            </a:p>
          </p:txBody>
        </p:sp>
      </p:grpSp>
      <p:grpSp>
        <p:nvGrpSpPr>
          <p:cNvPr name="Group 6" id="6"/>
          <p:cNvGrpSpPr/>
          <p:nvPr/>
        </p:nvGrpSpPr>
        <p:grpSpPr>
          <a:xfrm rot="0">
            <a:off x="7407480" y="4437332"/>
            <a:ext cx="2781610" cy="1412336"/>
            <a:chOff x="0" y="0"/>
            <a:chExt cx="3708813" cy="1883115"/>
          </a:xfrm>
        </p:grpSpPr>
        <p:sp>
          <p:nvSpPr>
            <p:cNvPr name="TextBox 7" id="7"/>
            <p:cNvSpPr txBox="true"/>
            <p:nvPr/>
          </p:nvSpPr>
          <p:spPr>
            <a:xfrm rot="0">
              <a:off x="0" y="0"/>
              <a:ext cx="3708813" cy="609600"/>
            </a:xfrm>
            <a:prstGeom prst="rect">
              <a:avLst/>
            </a:prstGeom>
          </p:spPr>
          <p:txBody>
            <a:bodyPr anchor="t" rtlCol="false" tIns="0" lIns="0" bIns="0" rIns="0">
              <a:spAutoFit/>
            </a:bodyPr>
            <a:lstStyle/>
            <a:p>
              <a:pPr algn="l">
                <a:lnSpc>
                  <a:spcPts val="3600"/>
                </a:lnSpc>
              </a:pPr>
            </a:p>
          </p:txBody>
        </p:sp>
        <p:sp>
          <p:nvSpPr>
            <p:cNvPr name="AutoShape 8" id="8"/>
            <p:cNvSpPr/>
            <p:nvPr/>
          </p:nvSpPr>
          <p:spPr>
            <a:xfrm rot="0">
              <a:off x="0" y="1037254"/>
              <a:ext cx="3708813" cy="845861"/>
            </a:xfrm>
            <a:prstGeom prst="rect">
              <a:avLst/>
            </a:prstGeom>
            <a:solidFill>
              <a:srgbClr val="10B5BF"/>
            </a:solidFill>
          </p:spPr>
        </p:sp>
        <p:sp>
          <p:nvSpPr>
            <p:cNvPr name="TextBox 9" id="9"/>
            <p:cNvSpPr txBox="true"/>
            <p:nvPr/>
          </p:nvSpPr>
          <p:spPr>
            <a:xfrm rot="0">
              <a:off x="277923" y="1184806"/>
              <a:ext cx="3152967" cy="459952"/>
            </a:xfrm>
            <a:prstGeom prst="rect">
              <a:avLst/>
            </a:prstGeom>
          </p:spPr>
          <p:txBody>
            <a:bodyPr anchor="t" rtlCol="false" tIns="0" lIns="0" bIns="0" rIns="0">
              <a:spAutoFit/>
            </a:bodyPr>
            <a:lstStyle/>
            <a:p>
              <a:pPr algn="ctr">
                <a:lnSpc>
                  <a:spcPts val="2904"/>
                </a:lnSpc>
              </a:pPr>
              <a:r>
                <a:rPr lang="en-US" b="true" sz="2075">
                  <a:solidFill>
                    <a:srgbClr val="FFFFFF"/>
                  </a:solidFill>
                  <a:latin typeface="Muli Bold"/>
                  <a:ea typeface="Muli Bold"/>
                  <a:cs typeface="Muli Bold"/>
                  <a:sym typeface="Muli Bold"/>
                </a:rPr>
                <a:t>Khách hàng</a:t>
              </a:r>
            </a:p>
          </p:txBody>
        </p:sp>
      </p:grpSp>
      <p:grpSp>
        <p:nvGrpSpPr>
          <p:cNvPr name="Group 10" id="10"/>
          <p:cNvGrpSpPr/>
          <p:nvPr/>
        </p:nvGrpSpPr>
        <p:grpSpPr>
          <a:xfrm rot="0">
            <a:off x="1097755" y="6744991"/>
            <a:ext cx="3004549" cy="1283943"/>
            <a:chOff x="0" y="0"/>
            <a:chExt cx="791322" cy="338158"/>
          </a:xfrm>
        </p:grpSpPr>
        <p:sp>
          <p:nvSpPr>
            <p:cNvPr name="Freeform 11" id="11"/>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2" id="12"/>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Xem thống kê sản phẩm hot, giá tốt nhất</a:t>
              </a:r>
            </a:p>
          </p:txBody>
        </p:sp>
      </p:grpSp>
      <p:sp>
        <p:nvSpPr>
          <p:cNvPr name="TextBox 13" id="13"/>
          <p:cNvSpPr txBox="true"/>
          <p:nvPr/>
        </p:nvSpPr>
        <p:spPr>
          <a:xfrm rot="0">
            <a:off x="4274097" y="912324"/>
            <a:ext cx="9739805" cy="600075"/>
          </a:xfrm>
          <a:prstGeom prst="rect">
            <a:avLst/>
          </a:prstGeom>
        </p:spPr>
        <p:txBody>
          <a:bodyPr anchor="t" rtlCol="false" tIns="0" lIns="0" bIns="0" rIns="0">
            <a:spAutoFit/>
          </a:bodyPr>
          <a:lstStyle/>
          <a:p>
            <a:pPr algn="l">
              <a:lnSpc>
                <a:spcPts val="4799"/>
              </a:lnSpc>
            </a:pPr>
            <a:r>
              <a:rPr lang="en-US" sz="3999" b="true">
                <a:solidFill>
                  <a:srgbClr val="FFFFFF"/>
                </a:solidFill>
                <a:latin typeface="Muli Semi-Bold"/>
                <a:ea typeface="Muli Semi-Bold"/>
                <a:cs typeface="Muli Semi-Bold"/>
                <a:sym typeface="Muli Semi-Bold"/>
              </a:rPr>
              <a:t>Phân tích, mô tả chức năng của website</a:t>
            </a:r>
          </a:p>
        </p:txBody>
      </p:sp>
      <p:grpSp>
        <p:nvGrpSpPr>
          <p:cNvPr name="Group 14" id="14"/>
          <p:cNvGrpSpPr/>
          <p:nvPr/>
        </p:nvGrpSpPr>
        <p:grpSpPr>
          <a:xfrm rot="0">
            <a:off x="1097755" y="2653521"/>
            <a:ext cx="3004549" cy="1283943"/>
            <a:chOff x="0" y="0"/>
            <a:chExt cx="791322" cy="338158"/>
          </a:xfrm>
        </p:grpSpPr>
        <p:sp>
          <p:nvSpPr>
            <p:cNvPr name="Freeform 15" id="15"/>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6" id="16"/>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Xem sản phẩm</a:t>
              </a:r>
            </a:p>
          </p:txBody>
        </p:sp>
      </p:grpSp>
      <p:grpSp>
        <p:nvGrpSpPr>
          <p:cNvPr name="Group 17" id="17"/>
          <p:cNvGrpSpPr/>
          <p:nvPr/>
        </p:nvGrpSpPr>
        <p:grpSpPr>
          <a:xfrm rot="0">
            <a:off x="1097755" y="4775881"/>
            <a:ext cx="3004549" cy="1283943"/>
            <a:chOff x="0" y="0"/>
            <a:chExt cx="791322" cy="338158"/>
          </a:xfrm>
        </p:grpSpPr>
        <p:sp>
          <p:nvSpPr>
            <p:cNvPr name="Freeform 18" id="18"/>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19" id="19"/>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Đặt hàng</a:t>
              </a:r>
            </a:p>
          </p:txBody>
        </p:sp>
      </p:grpSp>
      <p:grpSp>
        <p:nvGrpSpPr>
          <p:cNvPr name="Group 20" id="20"/>
          <p:cNvGrpSpPr/>
          <p:nvPr/>
        </p:nvGrpSpPr>
        <p:grpSpPr>
          <a:xfrm rot="0">
            <a:off x="13257036" y="2653521"/>
            <a:ext cx="3004549" cy="1283943"/>
            <a:chOff x="0" y="0"/>
            <a:chExt cx="791322" cy="338158"/>
          </a:xfrm>
        </p:grpSpPr>
        <p:sp>
          <p:nvSpPr>
            <p:cNvPr name="Freeform 21" id="21"/>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2" id="22"/>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Tìm kiếm, lọc sản phẩm</a:t>
              </a:r>
            </a:p>
          </p:txBody>
        </p:sp>
      </p:grpSp>
      <p:grpSp>
        <p:nvGrpSpPr>
          <p:cNvPr name="Group 23" id="23"/>
          <p:cNvGrpSpPr/>
          <p:nvPr/>
        </p:nvGrpSpPr>
        <p:grpSpPr>
          <a:xfrm rot="0">
            <a:off x="13257036" y="4775881"/>
            <a:ext cx="3004549" cy="1283943"/>
            <a:chOff x="0" y="0"/>
            <a:chExt cx="791322" cy="338158"/>
          </a:xfrm>
        </p:grpSpPr>
        <p:sp>
          <p:nvSpPr>
            <p:cNvPr name="Freeform 24" id="24"/>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5" id="25"/>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Giỏ hàng</a:t>
              </a:r>
            </a:p>
          </p:txBody>
        </p:sp>
      </p:grpSp>
      <p:grpSp>
        <p:nvGrpSpPr>
          <p:cNvPr name="Group 26" id="26"/>
          <p:cNvGrpSpPr/>
          <p:nvPr/>
        </p:nvGrpSpPr>
        <p:grpSpPr>
          <a:xfrm rot="0">
            <a:off x="13257036" y="6744991"/>
            <a:ext cx="3004549" cy="1283943"/>
            <a:chOff x="0" y="0"/>
            <a:chExt cx="791322" cy="338158"/>
          </a:xfrm>
        </p:grpSpPr>
        <p:sp>
          <p:nvSpPr>
            <p:cNvPr name="Freeform 27" id="27"/>
            <p:cNvSpPr/>
            <p:nvPr/>
          </p:nvSpPr>
          <p:spPr>
            <a:xfrm flipH="false" flipV="false" rot="0">
              <a:off x="0" y="0"/>
              <a:ext cx="791322" cy="338158"/>
            </a:xfrm>
            <a:custGeom>
              <a:avLst/>
              <a:gdLst/>
              <a:ahLst/>
              <a:cxnLst/>
              <a:rect r="r" b="b" t="t" l="l"/>
              <a:pathLst>
                <a:path h="338158" w="791322">
                  <a:moveTo>
                    <a:pt x="0" y="0"/>
                  </a:moveTo>
                  <a:lnTo>
                    <a:pt x="791322" y="0"/>
                  </a:lnTo>
                  <a:lnTo>
                    <a:pt x="791322" y="338158"/>
                  </a:lnTo>
                  <a:lnTo>
                    <a:pt x="0" y="338158"/>
                  </a:lnTo>
                  <a:close/>
                </a:path>
              </a:pathLst>
            </a:custGeom>
            <a:solidFill>
              <a:srgbClr val="10B5BF"/>
            </a:solidFill>
          </p:spPr>
        </p:sp>
        <p:sp>
          <p:nvSpPr>
            <p:cNvPr name="TextBox 28" id="28"/>
            <p:cNvSpPr txBox="true"/>
            <p:nvPr/>
          </p:nvSpPr>
          <p:spPr>
            <a:xfrm>
              <a:off x="0" y="-47625"/>
              <a:ext cx="791322" cy="385783"/>
            </a:xfrm>
            <a:prstGeom prst="rect">
              <a:avLst/>
            </a:prstGeom>
          </p:spPr>
          <p:txBody>
            <a:bodyPr anchor="ctr" rtlCol="false" tIns="50800" lIns="50800" bIns="50800" rIns="50800"/>
            <a:lstStyle/>
            <a:p>
              <a:pPr algn="ctr">
                <a:lnSpc>
                  <a:spcPts val="2905"/>
                </a:lnSpc>
              </a:pPr>
              <a:r>
                <a:rPr lang="en-US" b="true" sz="2075">
                  <a:solidFill>
                    <a:srgbClr val="FFFFFF"/>
                  </a:solidFill>
                  <a:latin typeface="Muli Bold"/>
                  <a:ea typeface="Muli Bold"/>
                  <a:cs typeface="Muli Bold"/>
                  <a:sym typeface="Muli Bold"/>
                </a:rPr>
                <a:t>Đặt hàng</a:t>
              </a:r>
            </a:p>
          </p:txBody>
        </p:sp>
      </p:grpSp>
      <p:sp>
        <p:nvSpPr>
          <p:cNvPr name="AutoShape 29" id="29"/>
          <p:cNvSpPr/>
          <p:nvPr/>
        </p:nvSpPr>
        <p:spPr>
          <a:xfrm flipV="true">
            <a:off x="10221955" y="3665767"/>
            <a:ext cx="2350197" cy="1808521"/>
          </a:xfrm>
          <a:prstGeom prst="line">
            <a:avLst/>
          </a:prstGeom>
          <a:ln cap="flat" w="38100">
            <a:solidFill>
              <a:srgbClr val="FFFFFF"/>
            </a:solidFill>
            <a:prstDash val="solid"/>
            <a:headEnd type="none" len="sm" w="sm"/>
            <a:tailEnd type="none" len="sm" w="sm"/>
          </a:ln>
        </p:spPr>
      </p:sp>
      <p:sp>
        <p:nvSpPr>
          <p:cNvPr name="AutoShape 30" id="30"/>
          <p:cNvSpPr/>
          <p:nvPr/>
        </p:nvSpPr>
        <p:spPr>
          <a:xfrm flipV="true">
            <a:off x="10189090" y="5474288"/>
            <a:ext cx="2383063" cy="53604"/>
          </a:xfrm>
          <a:prstGeom prst="line">
            <a:avLst/>
          </a:prstGeom>
          <a:ln cap="flat" w="38100">
            <a:solidFill>
              <a:srgbClr val="FFFFFF"/>
            </a:solidFill>
            <a:prstDash val="solid"/>
            <a:headEnd type="none" len="sm" w="sm"/>
            <a:tailEnd type="none" len="sm" w="sm"/>
          </a:ln>
        </p:spPr>
      </p:sp>
      <p:sp>
        <p:nvSpPr>
          <p:cNvPr name="AutoShape 31" id="31"/>
          <p:cNvSpPr/>
          <p:nvPr/>
        </p:nvSpPr>
        <p:spPr>
          <a:xfrm>
            <a:off x="10189090" y="5527892"/>
            <a:ext cx="2383063" cy="1679674"/>
          </a:xfrm>
          <a:prstGeom prst="line">
            <a:avLst/>
          </a:prstGeom>
          <a:ln cap="flat" w="38100">
            <a:solidFill>
              <a:srgbClr val="FFFFFF"/>
            </a:solidFill>
            <a:prstDash val="solid"/>
            <a:headEnd type="none" len="sm" w="sm"/>
            <a:tailEnd type="none" len="sm" w="sm"/>
          </a:ln>
        </p:spPr>
      </p:sp>
      <p:sp>
        <p:nvSpPr>
          <p:cNvPr name="AutoShape 32" id="32"/>
          <p:cNvSpPr/>
          <p:nvPr/>
        </p:nvSpPr>
        <p:spPr>
          <a:xfrm>
            <a:off x="4468562" y="3464012"/>
            <a:ext cx="2902241" cy="2050621"/>
          </a:xfrm>
          <a:prstGeom prst="line">
            <a:avLst/>
          </a:prstGeom>
          <a:ln cap="flat" w="38100">
            <a:solidFill>
              <a:srgbClr val="FFFFFF"/>
            </a:solidFill>
            <a:prstDash val="solid"/>
            <a:headEnd type="none" len="sm" w="sm"/>
            <a:tailEnd type="none" len="sm" w="sm"/>
          </a:ln>
        </p:spPr>
      </p:sp>
      <p:sp>
        <p:nvSpPr>
          <p:cNvPr name="AutoShape 33" id="33"/>
          <p:cNvSpPr/>
          <p:nvPr/>
        </p:nvSpPr>
        <p:spPr>
          <a:xfrm>
            <a:off x="4468562" y="5338637"/>
            <a:ext cx="2938917" cy="198064"/>
          </a:xfrm>
          <a:prstGeom prst="line">
            <a:avLst/>
          </a:prstGeom>
          <a:ln cap="flat" w="38100">
            <a:solidFill>
              <a:srgbClr val="FFFFFF"/>
            </a:solidFill>
            <a:prstDash val="solid"/>
            <a:headEnd type="none" len="sm" w="sm"/>
            <a:tailEnd type="none" len="sm" w="sm"/>
          </a:ln>
        </p:spPr>
      </p:sp>
      <p:sp>
        <p:nvSpPr>
          <p:cNvPr name="AutoShape 34" id="34"/>
          <p:cNvSpPr/>
          <p:nvPr/>
        </p:nvSpPr>
        <p:spPr>
          <a:xfrm flipV="true">
            <a:off x="4468562" y="5561707"/>
            <a:ext cx="2959096" cy="1746040"/>
          </a:xfrm>
          <a:prstGeom prst="line">
            <a:avLst/>
          </a:prstGeom>
          <a:ln cap="flat" w="38100">
            <a:solidFill>
              <a:srgbClr val="FFFFFF"/>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F2A37"/>
        </a:solidFill>
      </p:bgPr>
    </p:bg>
    <p:spTree>
      <p:nvGrpSpPr>
        <p:cNvPr id="1" name=""/>
        <p:cNvGrpSpPr/>
        <p:nvPr/>
      </p:nvGrpSpPr>
      <p:grpSpPr>
        <a:xfrm>
          <a:off x="0" y="0"/>
          <a:ext cx="0" cy="0"/>
          <a:chOff x="0" y="0"/>
          <a:chExt cx="0" cy="0"/>
        </a:xfrm>
      </p:grpSpPr>
      <p:sp>
        <p:nvSpPr>
          <p:cNvPr name="Freeform 2" id="2"/>
          <p:cNvSpPr/>
          <p:nvPr/>
        </p:nvSpPr>
        <p:spPr>
          <a:xfrm flipH="false" flipV="false" rot="-2903874">
            <a:off x="-1262775" y="-2893697"/>
            <a:ext cx="10898092" cy="9522208"/>
          </a:xfrm>
          <a:custGeom>
            <a:avLst/>
            <a:gdLst/>
            <a:ahLst/>
            <a:cxnLst/>
            <a:rect r="r" b="b" t="t" l="l"/>
            <a:pathLst>
              <a:path h="9522208" w="10898092">
                <a:moveTo>
                  <a:pt x="0" y="0"/>
                </a:moveTo>
                <a:lnTo>
                  <a:pt x="10898093" y="0"/>
                </a:lnTo>
                <a:lnTo>
                  <a:pt x="10898093" y="9522208"/>
                </a:lnTo>
                <a:lnTo>
                  <a:pt x="0" y="9522208"/>
                </a:lnTo>
                <a:lnTo>
                  <a:pt x="0" y="0"/>
                </a:lnTo>
                <a:close/>
              </a:path>
            </a:pathLst>
          </a:custGeom>
          <a:blipFill>
            <a:blip r:embed="rId2"/>
            <a:stretch>
              <a:fillRect l="0" t="0" r="0" b="0"/>
            </a:stretch>
          </a:blipFill>
        </p:spPr>
      </p:sp>
      <p:grpSp>
        <p:nvGrpSpPr>
          <p:cNvPr name="Group 3" id="3"/>
          <p:cNvGrpSpPr/>
          <p:nvPr/>
        </p:nvGrpSpPr>
        <p:grpSpPr>
          <a:xfrm rot="0">
            <a:off x="2155408" y="4272149"/>
            <a:ext cx="14279745" cy="1742702"/>
            <a:chOff x="0" y="0"/>
            <a:chExt cx="19039660" cy="2323602"/>
          </a:xfrm>
        </p:grpSpPr>
        <p:sp>
          <p:nvSpPr>
            <p:cNvPr name="TextBox 4" id="4"/>
            <p:cNvSpPr txBox="true"/>
            <p:nvPr/>
          </p:nvSpPr>
          <p:spPr>
            <a:xfrm rot="0">
              <a:off x="0" y="-40"/>
              <a:ext cx="19039660" cy="1409700"/>
            </a:xfrm>
            <a:prstGeom prst="rect">
              <a:avLst/>
            </a:prstGeom>
          </p:spPr>
          <p:txBody>
            <a:bodyPr anchor="t" rtlCol="false" tIns="0" lIns="0" bIns="0" rIns="0">
              <a:spAutoFit/>
            </a:bodyPr>
            <a:lstStyle/>
            <a:p>
              <a:pPr algn="l">
                <a:lnSpc>
                  <a:spcPts val="8399"/>
                </a:lnSpc>
              </a:pPr>
              <a:r>
                <a:rPr lang="en-US" sz="6999">
                  <a:solidFill>
                    <a:srgbClr val="FFFFFF"/>
                  </a:solidFill>
                  <a:latin typeface="Linux Biolinum"/>
                  <a:ea typeface="Linux Biolinum"/>
                  <a:cs typeface="Linux Biolinum"/>
                  <a:sym typeface="Linux Biolinum"/>
                </a:rPr>
                <a:t>CÀI ĐẶT VÀ TRIỂN KHAI SẢN PHẨM</a:t>
              </a:r>
            </a:p>
          </p:txBody>
        </p:sp>
        <p:sp>
          <p:nvSpPr>
            <p:cNvPr name="TextBox 5" id="5"/>
            <p:cNvSpPr txBox="true"/>
            <p:nvPr/>
          </p:nvSpPr>
          <p:spPr>
            <a:xfrm rot="0">
              <a:off x="0" y="1763760"/>
              <a:ext cx="19039660" cy="407459"/>
            </a:xfrm>
            <a:prstGeom prst="rect">
              <a:avLst/>
            </a:prstGeom>
          </p:spPr>
          <p:txBody>
            <a:bodyPr anchor="t" rtlCol="false" tIns="0" lIns="0" bIns="0" rIns="0">
              <a:spAutoFit/>
            </a:bodyPr>
            <a:lstStyle/>
            <a:p>
              <a:pPr algn="l">
                <a:lnSpc>
                  <a:spcPts val="2599"/>
                </a:lnSpc>
              </a:pPr>
            </a:p>
          </p:txBody>
        </p:sp>
      </p:grpSp>
      <p:sp>
        <p:nvSpPr>
          <p:cNvPr name="Freeform 6" id="6"/>
          <p:cNvSpPr/>
          <p:nvPr/>
        </p:nvSpPr>
        <p:spPr>
          <a:xfrm flipH="false" flipV="false" rot="0">
            <a:off x="15379165" y="2689067"/>
            <a:ext cx="6741277" cy="9125247"/>
          </a:xfrm>
          <a:custGeom>
            <a:avLst/>
            <a:gdLst/>
            <a:ahLst/>
            <a:cxnLst/>
            <a:rect r="r" b="b" t="t" l="l"/>
            <a:pathLst>
              <a:path h="9125247" w="6741277">
                <a:moveTo>
                  <a:pt x="0" y="0"/>
                </a:moveTo>
                <a:lnTo>
                  <a:pt x="6741276" y="0"/>
                </a:lnTo>
                <a:lnTo>
                  <a:pt x="6741276" y="9125248"/>
                </a:lnTo>
                <a:lnTo>
                  <a:pt x="0" y="9125248"/>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F2A37"/>
        </a:solidFill>
      </p:bgPr>
    </p:bg>
    <p:spTree>
      <p:nvGrpSpPr>
        <p:cNvPr id="1" name=""/>
        <p:cNvGrpSpPr/>
        <p:nvPr/>
      </p:nvGrpSpPr>
      <p:grpSpPr>
        <a:xfrm>
          <a:off x="0" y="0"/>
          <a:ext cx="0" cy="0"/>
          <a:chOff x="0" y="0"/>
          <a:chExt cx="0" cy="0"/>
        </a:xfrm>
      </p:grpSpPr>
      <p:sp>
        <p:nvSpPr>
          <p:cNvPr name="Freeform 2" id="2"/>
          <p:cNvSpPr/>
          <p:nvPr/>
        </p:nvSpPr>
        <p:spPr>
          <a:xfrm flipH="false" flipV="false" rot="0">
            <a:off x="10319755" y="4124194"/>
            <a:ext cx="8825308" cy="8229600"/>
          </a:xfrm>
          <a:custGeom>
            <a:avLst/>
            <a:gdLst/>
            <a:ahLst/>
            <a:cxnLst/>
            <a:rect r="r" b="b" t="t" l="l"/>
            <a:pathLst>
              <a:path h="8229600" w="8825308">
                <a:moveTo>
                  <a:pt x="0" y="0"/>
                </a:moveTo>
                <a:lnTo>
                  <a:pt x="8825309" y="0"/>
                </a:lnTo>
                <a:lnTo>
                  <a:pt x="882530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2903874">
            <a:off x="-1262775" y="-2893697"/>
            <a:ext cx="10898092" cy="9522208"/>
          </a:xfrm>
          <a:custGeom>
            <a:avLst/>
            <a:gdLst/>
            <a:ahLst/>
            <a:cxnLst/>
            <a:rect r="r" b="b" t="t" l="l"/>
            <a:pathLst>
              <a:path h="9522208" w="10898092">
                <a:moveTo>
                  <a:pt x="0" y="0"/>
                </a:moveTo>
                <a:lnTo>
                  <a:pt x="10898093" y="0"/>
                </a:lnTo>
                <a:lnTo>
                  <a:pt x="10898093" y="9522208"/>
                </a:lnTo>
                <a:lnTo>
                  <a:pt x="0" y="9522208"/>
                </a:lnTo>
                <a:lnTo>
                  <a:pt x="0" y="0"/>
                </a:lnTo>
                <a:close/>
              </a:path>
            </a:pathLst>
          </a:custGeom>
          <a:blipFill>
            <a:blip r:embed="rId3"/>
            <a:stretch>
              <a:fillRect l="0" t="0" r="0" b="0"/>
            </a:stretch>
          </a:blipFill>
        </p:spPr>
      </p:sp>
      <p:sp>
        <p:nvSpPr>
          <p:cNvPr name="TextBox 4" id="4"/>
          <p:cNvSpPr txBox="true"/>
          <p:nvPr/>
        </p:nvSpPr>
        <p:spPr>
          <a:xfrm rot="0">
            <a:off x="2835102" y="4095915"/>
            <a:ext cx="11897307" cy="2422525"/>
          </a:xfrm>
          <a:prstGeom prst="rect">
            <a:avLst/>
          </a:prstGeom>
        </p:spPr>
        <p:txBody>
          <a:bodyPr anchor="t" rtlCol="false" tIns="0" lIns="0" bIns="0" rIns="0">
            <a:spAutoFit/>
          </a:bodyPr>
          <a:lstStyle/>
          <a:p>
            <a:pPr algn="ctr">
              <a:lnSpc>
                <a:spcPts val="9799"/>
              </a:lnSpc>
              <a:spcBef>
                <a:spcPct val="0"/>
              </a:spcBef>
            </a:pPr>
            <a:r>
              <a:rPr lang="en-US" b="true" sz="6999">
                <a:solidFill>
                  <a:srgbClr val="FFFFFF"/>
                </a:solidFill>
                <a:latin typeface="Muli Bold"/>
                <a:ea typeface="Muli Bold"/>
                <a:cs typeface="Muli Bold"/>
                <a:sym typeface="Muli Bold"/>
              </a:rPr>
              <a:t>Cảm ơn thầy cô và các bạn đã lắng nghe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DAGqVt7zxF8</dc:identifier>
  <dcterms:modified xsi:type="dcterms:W3CDTF">2011-08-01T06:04:30Z</dcterms:modified>
  <cp:revision>1</cp:revision>
  <dc:title>Thương hiệu Vạn Niên</dc:title>
</cp:coreProperties>
</file>